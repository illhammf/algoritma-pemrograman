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6" r:id="rId2"/>
    <p:sldId id="287" r:id="rId3"/>
    <p:sldId id="288" r:id="rId4"/>
    <p:sldId id="289" r:id="rId5"/>
    <p:sldId id="260" r:id="rId6"/>
    <p:sldId id="309" r:id="rId7"/>
    <p:sldId id="310" r:id="rId8"/>
    <p:sldId id="291" r:id="rId9"/>
    <p:sldId id="292" r:id="rId10"/>
    <p:sldId id="296" r:id="rId11"/>
    <p:sldId id="321" r:id="rId12"/>
    <p:sldId id="304" r:id="rId13"/>
    <p:sldId id="313" r:id="rId14"/>
    <p:sldId id="322" r:id="rId15"/>
    <p:sldId id="323" r:id="rId16"/>
    <p:sldId id="325" r:id="rId17"/>
    <p:sldId id="326" r:id="rId18"/>
    <p:sldId id="327" r:id="rId19"/>
    <p:sldId id="297" r:id="rId20"/>
    <p:sldId id="267" r:id="rId21"/>
    <p:sldId id="32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C7C30"/>
    <a:srgbClr val="0E60AC"/>
    <a:srgbClr val="EB7020"/>
    <a:srgbClr val="FBE6E1"/>
    <a:srgbClr val="FCEDEA"/>
    <a:srgbClr val="D8EBFC"/>
    <a:srgbClr val="F2F2F2"/>
    <a:srgbClr val="DA6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A72C7-EFFE-4E88-AD56-53EE1F7B8694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45EBC-2005-4F04-AD12-C25E989DEE4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809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45EBC-2005-4F04-AD12-C25E989DEE4E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936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45EBC-2005-4F04-AD12-C25E989DEE4E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0100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814192"/>
            <a:ext cx="4509370" cy="523587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itle 15"/>
          <p:cNvSpPr>
            <a:spLocks noGrp="1"/>
          </p:cNvSpPr>
          <p:nvPr>
            <p:ph type="title" hasCustomPrompt="1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rgbClr val="0E60AC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4968465" y="403445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9" name="Rounded Rectangle 18"/>
          <p:cNvSpPr/>
          <p:nvPr userDrawn="1"/>
        </p:nvSpPr>
        <p:spPr>
          <a:xfrm>
            <a:off x="4968465" y="3811581"/>
            <a:ext cx="1659545" cy="45719"/>
          </a:xfrm>
          <a:prstGeom prst="roundRect">
            <a:avLst/>
          </a:prstGeom>
          <a:solidFill>
            <a:srgbClr val="EC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4968464" y="110526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9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4" name="Rounded Rectangle 3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  <p:sp>
        <p:nvSpPr>
          <p:cNvPr id="12" name="Title 15"/>
          <p:cNvSpPr>
            <a:spLocks noGrp="1"/>
          </p:cNvSpPr>
          <p:nvPr>
            <p:ph type="title" hasCustomPrompt="1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588970" y="419808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7" name="Rounded Rectangle 16"/>
          <p:cNvSpPr/>
          <p:nvPr userDrawn="1"/>
        </p:nvSpPr>
        <p:spPr>
          <a:xfrm>
            <a:off x="588970" y="3975211"/>
            <a:ext cx="165954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588969" y="126889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47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en Pengamp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</a:lstStyle>
          <a:p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154979" y="2275496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Gelar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5164108" y="1988095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Dosen</a:t>
            </a:r>
            <a:r>
              <a:rPr lang="en-US" sz="2000" dirty="0"/>
              <a:t> </a:t>
            </a:r>
            <a:r>
              <a:rPr lang="en-US" sz="2000" dirty="0" err="1"/>
              <a:t>Koordinator</a:t>
            </a:r>
            <a:r>
              <a:rPr lang="en-US" sz="2000" dirty="0"/>
              <a:t>: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54979" y="3176643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NID</a:t>
            </a:r>
          </a:p>
        </p:txBody>
      </p:sp>
      <p:sp>
        <p:nvSpPr>
          <p:cNvPr id="16" name="Title 1"/>
          <p:cNvSpPr txBox="1">
            <a:spLocks/>
          </p:cNvSpPr>
          <p:nvPr userDrawn="1"/>
        </p:nvSpPr>
        <p:spPr>
          <a:xfrm>
            <a:off x="5164108" y="2889242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NID: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54979" y="4077790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E-mail</a:t>
            </a:r>
          </a:p>
        </p:txBody>
      </p:sp>
      <p:sp>
        <p:nvSpPr>
          <p:cNvPr id="18" name="Title 1"/>
          <p:cNvSpPr txBox="1">
            <a:spLocks/>
          </p:cNvSpPr>
          <p:nvPr userDrawn="1"/>
        </p:nvSpPr>
        <p:spPr>
          <a:xfrm>
            <a:off x="5164108" y="3790389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E-mail:</a:t>
            </a:r>
          </a:p>
        </p:txBody>
      </p:sp>
    </p:spTree>
    <p:extLst>
      <p:ext uri="{BB962C8B-B14F-4D97-AF65-F5344CB8AC3E}">
        <p14:creationId xmlns:p14="http://schemas.microsoft.com/office/powerpoint/2010/main" val="43242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Tengah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1756" y="804529"/>
            <a:ext cx="3824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Topik</a:t>
            </a:r>
            <a:r>
              <a:rPr lang="en-US" sz="3600" b="1" dirty="0"/>
              <a:t> </a:t>
            </a:r>
            <a:r>
              <a:rPr lang="en-US" sz="3600" b="1" dirty="0" err="1"/>
              <a:t>Sebelum</a:t>
            </a:r>
            <a:r>
              <a:rPr lang="en-US" sz="3600" b="1" dirty="0"/>
              <a:t> UTS</a:t>
            </a:r>
          </a:p>
        </p:txBody>
      </p:sp>
    </p:spTree>
    <p:extLst>
      <p:ext uri="{BB962C8B-B14F-4D97-AF65-F5344CB8AC3E}">
        <p14:creationId xmlns:p14="http://schemas.microsoft.com/office/powerpoint/2010/main" val="77245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Akhir</a:t>
            </a:r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571756" y="804529"/>
            <a:ext cx="39118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Topik</a:t>
            </a:r>
            <a:r>
              <a:rPr lang="en-US" sz="3600" b="1" dirty="0"/>
              <a:t> </a:t>
            </a:r>
            <a:r>
              <a:rPr lang="en-US" sz="3600" b="1" dirty="0" err="1"/>
              <a:t>Sebelum</a:t>
            </a:r>
            <a:r>
              <a:rPr lang="en-US" sz="3600" b="1" dirty="0"/>
              <a:t> UAS</a:t>
            </a:r>
          </a:p>
        </p:txBody>
      </p:sp>
    </p:spTree>
    <p:extLst>
      <p:ext uri="{BB962C8B-B14F-4D97-AF65-F5344CB8AC3E}">
        <p14:creationId xmlns:p14="http://schemas.microsoft.com/office/powerpoint/2010/main" val="389121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dahulu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327352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Pendahuluan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77" y="544975"/>
            <a:ext cx="665176" cy="76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0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juan Pembelajar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4" y="716437"/>
            <a:ext cx="5910035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5537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Capaian</a:t>
            </a:r>
            <a:r>
              <a:rPr lang="en-US" sz="4400" b="1" dirty="0"/>
              <a:t> </a:t>
            </a:r>
            <a:r>
              <a:rPr lang="en-US" sz="4400" b="1" dirty="0" err="1"/>
              <a:t>Pembelajaran</a:t>
            </a:r>
            <a:endParaRPr lang="en-US" sz="4400" b="1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75" y="649446"/>
            <a:ext cx="791900" cy="63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6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mponen Penila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50687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Komponen</a:t>
            </a:r>
            <a:r>
              <a:rPr lang="en-US" sz="4400" b="1" dirty="0"/>
              <a:t> </a:t>
            </a:r>
            <a:r>
              <a:rPr lang="en-US" sz="4400" b="1" dirty="0" err="1"/>
              <a:t>Penilaian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12" y="616587"/>
            <a:ext cx="589305" cy="675421"/>
          </a:xfrm>
          <a:prstGeom prst="rect">
            <a:avLst/>
          </a:prstGeom>
        </p:spPr>
      </p:pic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3774122" y="1943100"/>
            <a:ext cx="4836478" cy="3228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6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824826"/>
            <a:ext cx="9144000" cy="176884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err="1"/>
              <a:t>Judul</a:t>
            </a:r>
            <a:r>
              <a:rPr lang="en-US" dirty="0"/>
              <a:t> 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2843408"/>
            <a:ext cx="9144000" cy="3376417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27261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24603" y="2217851"/>
            <a:ext cx="5529197" cy="1920647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 err="1"/>
              <a:t>Judul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57535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Tw Cen MT" panose="020B06020201040206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41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49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72239"/>
            <a:ext cx="5157787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72239"/>
            <a:ext cx="5183188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28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0120"/>
            <a:ext cx="10515600" cy="193167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7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105706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21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107481"/>
            <a:ext cx="5900448" cy="48007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02081" y="886379"/>
            <a:ext cx="3751066" cy="1218156"/>
          </a:xfrm>
        </p:spPr>
        <p:txBody>
          <a:bodyPr anchor="b"/>
          <a:lstStyle>
            <a:lvl1pPr>
              <a:defRPr sz="3200">
                <a:solidFill>
                  <a:srgbClr val="FFC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02081" y="2264241"/>
            <a:ext cx="3751066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99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061967" y="466091"/>
            <a:ext cx="4066216" cy="284304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5825" y="526915"/>
            <a:ext cx="3918815" cy="27105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817139" y="867524"/>
            <a:ext cx="4740881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7139" y="2245386"/>
            <a:ext cx="4740881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1061967" y="3560439"/>
            <a:ext cx="4066216" cy="284304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1135825" y="3621263"/>
            <a:ext cx="3918815" cy="27105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1813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9929" y="886379"/>
            <a:ext cx="4888191" cy="50218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918477" y="886379"/>
            <a:ext cx="5280565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7" y="2264241"/>
            <a:ext cx="5280565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395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Uraian Mat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9846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759637"/>
            <a:ext cx="10515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7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70701" y="1491242"/>
            <a:ext cx="3356431" cy="340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70701" y="605658"/>
            <a:ext cx="10851171" cy="701457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518071" y="1491242"/>
            <a:ext cx="3356431" cy="3405612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265441" y="1491242"/>
            <a:ext cx="3356431" cy="3405612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70700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4518071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265441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350358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30198" y="688159"/>
            <a:ext cx="8495847" cy="39094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30197" y="4751111"/>
            <a:ext cx="8495850" cy="1451728"/>
          </a:xfrm>
        </p:spPr>
        <p:txBody>
          <a:bodyPr>
            <a:normAutofit/>
          </a:bodyPr>
          <a:lstStyle>
            <a:lvl1pPr marL="0" indent="0" algn="just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2575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76887" y="404617"/>
            <a:ext cx="9184670" cy="701457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Media Placeholder 3"/>
          <p:cNvSpPr>
            <a:spLocks noGrp="1"/>
          </p:cNvSpPr>
          <p:nvPr>
            <p:ph type="media" sz="quarter" idx="13" hasCustomPrompt="1"/>
          </p:nvPr>
        </p:nvSpPr>
        <p:spPr>
          <a:xfrm>
            <a:off x="1576887" y="1319017"/>
            <a:ext cx="9184670" cy="5166377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Insert Video</a:t>
            </a:r>
          </a:p>
        </p:txBody>
      </p:sp>
    </p:spTree>
    <p:extLst>
      <p:ext uri="{BB962C8B-B14F-4D97-AF65-F5344CB8AC3E}">
        <p14:creationId xmlns:p14="http://schemas.microsoft.com/office/powerpoint/2010/main" val="383617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93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tih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19239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Latihan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19" y="581911"/>
            <a:ext cx="650450" cy="74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3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ftar Pusta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364074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Daftar</a:t>
            </a:r>
            <a:r>
              <a:rPr lang="en-US" sz="4400" b="1" dirty="0"/>
              <a:t> </a:t>
            </a:r>
            <a:r>
              <a:rPr lang="en-US" sz="4400" b="1" dirty="0" err="1"/>
              <a:t>Pustaka</a:t>
            </a:r>
            <a:endParaRPr lang="en-US" sz="4400" b="1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7" y="661014"/>
            <a:ext cx="606720" cy="6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4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u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siness people  clapping their hands at the meeting Premium Photo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530"/>
          <a:stretch/>
        </p:blipFill>
        <p:spPr bwMode="auto">
          <a:xfrm>
            <a:off x="2790216" y="-5350"/>
            <a:ext cx="9401784" cy="686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 userDrawn="1"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2333732" y="2541902"/>
            <a:ext cx="3048000" cy="176884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Terima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Kasih</a:t>
            </a:r>
            <a:r>
              <a:rPr lang="en-US" dirty="0"/>
              <a:t>.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9" name="Rounded Rectangle 8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987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70264"/>
            <a:ext cx="12110720" cy="140073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10071739" y="152987"/>
            <a:ext cx="1971606" cy="729735"/>
            <a:chOff x="648649" y="653143"/>
            <a:chExt cx="2138362" cy="791455"/>
          </a:xfrm>
        </p:grpSpPr>
        <p:sp>
          <p:nvSpPr>
            <p:cNvPr id="10" name="Rounded Rectangle 9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 rotWithShape="1"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888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0" r:id="rId2"/>
    <p:sldLayoutId id="2147483664" r:id="rId3"/>
    <p:sldLayoutId id="2147483676" r:id="rId4"/>
    <p:sldLayoutId id="2147483677" r:id="rId5"/>
    <p:sldLayoutId id="2147483674" r:id="rId6"/>
    <p:sldLayoutId id="2147483671" r:id="rId7"/>
    <p:sldLayoutId id="2147483675" r:id="rId8"/>
    <p:sldLayoutId id="2147483649" r:id="rId9"/>
    <p:sldLayoutId id="2147483665" r:id="rId10"/>
    <p:sldLayoutId id="2147483651" r:id="rId11"/>
    <p:sldLayoutId id="2147483652" r:id="rId12"/>
    <p:sldLayoutId id="2147483653" r:id="rId13"/>
    <p:sldLayoutId id="2147483654" r:id="rId14"/>
    <p:sldLayoutId id="2147483650" r:id="rId15"/>
    <p:sldLayoutId id="2147483657" r:id="rId16"/>
    <p:sldLayoutId id="2147483668" r:id="rId17"/>
    <p:sldLayoutId id="2147483678" r:id="rId18"/>
    <p:sldLayoutId id="2147483681" r:id="rId19"/>
    <p:sldLayoutId id="2147483666" r:id="rId20"/>
    <p:sldLayoutId id="2147483669" r:id="rId21"/>
    <p:sldLayoutId id="2147483667" r:id="rId22"/>
    <p:sldLayoutId id="2147483655" r:id="rId23"/>
    <p:sldLayoutId id="2147483672" r:id="rId24"/>
    <p:sldLayoutId id="2147483673" r:id="rId25"/>
    <p:sldLayoutId id="2147483663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E60AC"/>
          </a:solidFill>
          <a:latin typeface="Tw Cen MT" panose="020B0602020104020603" pitchFamily="34" charset="0"/>
          <a:ea typeface="+mj-ea"/>
          <a:cs typeface="+mj-cs"/>
        </a:defRPr>
      </a:lvl1pPr>
    </p:titleStyle>
    <p:bodyStyle>
      <a:lvl1pPr marL="514350" indent="-514350" algn="just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1pPr>
      <a:lvl2pPr marL="914400" indent="-457200" algn="just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lphaL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javatpoint.com/ai-uninformed-search-algorithms" TargetMode="Externa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Algoritma dan </a:t>
            </a:r>
            <a:r>
              <a:rPr lang="en-US" dirty="0" err="1"/>
              <a:t>Pemrograman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Algoritma </a:t>
            </a:r>
            <a:r>
              <a:rPr lang="en-US" dirty="0" err="1"/>
              <a:t>Pencarian</a:t>
            </a:r>
            <a:r>
              <a:rPr lang="en-US" dirty="0"/>
              <a:t> (Search Algorithm)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Sesi</a:t>
            </a:r>
            <a:r>
              <a:rPr lang="en-US" dirty="0"/>
              <a:t> 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CSF101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5DCCF57-1439-F69A-31EF-362FFFBFC32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2" r="605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6833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BD0455-04E3-A25F-B3D7-52D9BC697E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Rahmat Budiarsa, </a:t>
            </a:r>
            <a:r>
              <a:rPr lang="en-US" dirty="0" err="1"/>
              <a:t>S.Kom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21AB86-107D-6475-B9D6-731B622996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D" dirty="0"/>
              <a:t>8482</a:t>
            </a:r>
          </a:p>
          <a:p>
            <a:endParaRPr lang="en-ID" dirty="0"/>
          </a:p>
          <a:p>
            <a:endParaRPr lang="en-ID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C8D0B1-B26C-69DD-741A-0825710B12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D" dirty="0"/>
              <a:t>rahmat.budiarsa@esaunggul.ac.id</a:t>
            </a:r>
          </a:p>
          <a:p>
            <a:endParaRPr lang="en-ID" dirty="0"/>
          </a:p>
          <a:p>
            <a:endParaRPr lang="en-ID" dirty="0"/>
          </a:p>
        </p:txBody>
      </p:sp>
      <p:pic>
        <p:nvPicPr>
          <p:cNvPr id="18" name="Picture Placeholder 2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CF7D57C2-EB89-26A3-73E9-07A04D65105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4" b="2214"/>
          <a:stretch>
            <a:fillRect/>
          </a:stretch>
        </p:blipFill>
        <p:spPr>
          <a:xfrm>
            <a:off x="1746250" y="1843088"/>
            <a:ext cx="3063875" cy="3063875"/>
          </a:xfrm>
        </p:spPr>
      </p:pic>
    </p:spTree>
    <p:extLst>
      <p:ext uri="{BB962C8B-B14F-4D97-AF65-F5344CB8AC3E}">
        <p14:creationId xmlns:p14="http://schemas.microsoft.com/office/powerpoint/2010/main" val="402733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2000" i="1" dirty="0" err="1">
                <a:latin typeface="+mj-lt"/>
              </a:rPr>
              <a:t>Konsep</a:t>
            </a:r>
            <a:r>
              <a:rPr lang="en-US" sz="2000" i="1" dirty="0">
                <a:latin typeface="+mj-lt"/>
              </a:rPr>
              <a:t> Algoritma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Flowchart dan Pseudocode</a:t>
            </a:r>
          </a:p>
          <a:p>
            <a:endParaRPr lang="en-US" sz="2000" dirty="0">
              <a:latin typeface="+mj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Pencarian</a:t>
            </a:r>
            <a:r>
              <a:rPr lang="en-US" sz="2000" dirty="0">
                <a:latin typeface="+mj-lt"/>
              </a:rP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6387655" y="4325100"/>
            <a:ext cx="2243579" cy="93271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Pengurutan</a:t>
            </a:r>
            <a:r>
              <a:rPr lang="en-US" sz="2000" dirty="0">
                <a:latin typeface="+mj-lt"/>
              </a:rPr>
              <a:t> Lanjutan_1</a:t>
            </a:r>
          </a:p>
          <a:p>
            <a:endParaRPr lang="en-US" sz="2000" dirty="0">
              <a:latin typeface="+mj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9182130" y="2406828"/>
            <a:ext cx="2243579" cy="93271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Pencarian</a:t>
            </a:r>
            <a:r>
              <a:rPr lang="en-US" sz="2000" dirty="0">
                <a:latin typeface="+mj-lt"/>
              </a:rPr>
              <a:t> Lanjutan_1</a:t>
            </a:r>
          </a:p>
          <a:p>
            <a:endParaRPr lang="en-US" sz="200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43863" y="1840832"/>
            <a:ext cx="2531165" cy="1588168"/>
          </a:xfrm>
          <a:prstGeom prst="rect">
            <a:avLst/>
          </a:prstGeom>
          <a:noFill/>
          <a:ln w="57150">
            <a:solidFill>
              <a:srgbClr val="0E60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4089276-FE80-0A3F-D194-4D69C7581BDE}"/>
              </a:ext>
            </a:extLst>
          </p:cNvPr>
          <p:cNvSpPr txBox="1">
            <a:spLocks/>
          </p:cNvSpPr>
          <p:nvPr/>
        </p:nvSpPr>
        <p:spPr>
          <a:xfrm>
            <a:off x="798708" y="4302648"/>
            <a:ext cx="2243579" cy="932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600" kern="1200">
                <a:solidFill>
                  <a:schemeClr val="accent5">
                    <a:lumMod val="2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Pencarian</a:t>
            </a:r>
            <a:r>
              <a:rPr lang="en-US" sz="2000" dirty="0">
                <a:latin typeface="+mj-lt"/>
              </a:rPr>
              <a:t> Lanjutan_2</a:t>
            </a:r>
          </a:p>
          <a:p>
            <a:endParaRPr lang="en-US" sz="2000" dirty="0">
              <a:latin typeface="+mj-lt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808C92-82F5-46ED-89DF-F5AE74257B2C}"/>
              </a:ext>
            </a:extLst>
          </p:cNvPr>
          <p:cNvSpPr txBox="1">
            <a:spLocks/>
          </p:cNvSpPr>
          <p:nvPr/>
        </p:nvSpPr>
        <p:spPr>
          <a:xfrm>
            <a:off x="3593182" y="4325100"/>
            <a:ext cx="2243579" cy="932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600" kern="1200">
                <a:solidFill>
                  <a:schemeClr val="accent5">
                    <a:lumMod val="2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+mj-lt"/>
              </a:rPr>
              <a:t>Algoritma Pengurutan 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714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3554136" y="2416350"/>
            <a:ext cx="2243579" cy="932713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Algoritma </a:t>
            </a:r>
            <a:r>
              <a:rPr lang="en-US" sz="2000" i="1" dirty="0" err="1">
                <a:latin typeface="+mj-lt"/>
              </a:rPr>
              <a:t>Tumpukan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Penjadwalan</a:t>
            </a:r>
            <a:endParaRPr lang="en-US" sz="2000" dirty="0">
              <a:latin typeface="+mj-lt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66848" y="2416350"/>
            <a:ext cx="2243579" cy="932713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Algoritma </a:t>
            </a:r>
            <a:r>
              <a:rPr lang="en-US" sz="2000" i="1" dirty="0" err="1">
                <a:latin typeface="+mj-lt"/>
              </a:rPr>
              <a:t>Antrian</a:t>
            </a:r>
            <a:endParaRPr lang="en-US" sz="2000" i="1" dirty="0">
              <a:latin typeface="+mj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Algoritma </a:t>
            </a:r>
            <a:r>
              <a:rPr lang="en-US" sz="2000" dirty="0" err="1">
                <a:latin typeface="+mj-lt"/>
              </a:rPr>
              <a:t>Rekursif</a:t>
            </a:r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sz="2000" dirty="0" err="1">
                <a:latin typeface="+mj-lt"/>
              </a:rPr>
              <a:t>Presentasi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Tugas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Projek</a:t>
            </a:r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</p:txBody>
      </p:sp>
      <p:sp>
        <p:nvSpPr>
          <p:cNvPr id="13" name="Text Placeholder 5"/>
          <p:cNvSpPr txBox="1">
            <a:spLocks/>
          </p:cNvSpPr>
          <p:nvPr/>
        </p:nvSpPr>
        <p:spPr>
          <a:xfrm>
            <a:off x="801277" y="2416351"/>
            <a:ext cx="2243579" cy="932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600" kern="1200">
                <a:solidFill>
                  <a:schemeClr val="accent5">
                    <a:lumMod val="2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+mj-lt"/>
              </a:rPr>
              <a:t>Algoritma Pengurutan Lanjutan_2</a:t>
            </a:r>
            <a:endParaRPr lang="en-US" sz="2000" dirty="0">
              <a:latin typeface="+mj-lt"/>
            </a:endParaRPr>
          </a:p>
        </p:txBody>
      </p:sp>
      <p:sp>
        <p:nvSpPr>
          <p:cNvPr id="14" name="Text Placeholder 7"/>
          <p:cNvSpPr txBox="1">
            <a:spLocks/>
          </p:cNvSpPr>
          <p:nvPr/>
        </p:nvSpPr>
        <p:spPr>
          <a:xfrm>
            <a:off x="798708" y="4266643"/>
            <a:ext cx="2243579" cy="932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600" kern="1200">
                <a:solidFill>
                  <a:schemeClr val="accent5">
                    <a:lumMod val="2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+mj-lt"/>
              </a:rPr>
              <a:t>Algoritma Penjadwalan Lanjutan_1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5881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sz="2800" dirty="0" err="1">
                <a:latin typeface="+mj-lt"/>
              </a:rPr>
              <a:t>Mahasiswa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mampu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memahami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konsep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dasar</a:t>
            </a:r>
            <a:r>
              <a:rPr lang="en-US" sz="2800" dirty="0">
                <a:latin typeface="+mj-lt"/>
              </a:rPr>
              <a:t> algoritma </a:t>
            </a:r>
            <a:r>
              <a:rPr lang="en-US" sz="2800" dirty="0" err="1">
                <a:latin typeface="+mj-lt"/>
              </a:rPr>
              <a:t>pencarian</a:t>
            </a:r>
            <a:r>
              <a:rPr lang="en-US" sz="2800" dirty="0">
                <a:latin typeface="+mj-lt"/>
              </a:rPr>
              <a:t>.</a:t>
            </a:r>
          </a:p>
          <a:p>
            <a:pPr lvl="0" fontAlgn="base"/>
            <a:r>
              <a:rPr lang="en-US" sz="2800" dirty="0" err="1">
                <a:latin typeface="+mj-lt"/>
              </a:rPr>
              <a:t>Mahasiswa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mampu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menerapkan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konsep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dasar</a:t>
            </a:r>
            <a:r>
              <a:rPr lang="en-US" sz="2800" dirty="0">
                <a:latin typeface="+mj-lt"/>
              </a:rPr>
              <a:t> algoritma </a:t>
            </a:r>
            <a:r>
              <a:rPr lang="en-US" sz="2800" dirty="0" err="1"/>
              <a:t>pencarian</a:t>
            </a:r>
            <a:r>
              <a:rPr lang="en-US" sz="28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605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0C26-28D7-2049-8301-71831D5B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0072-629B-D555-CAFB-9BC761A4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9365"/>
            <a:ext cx="10515600" cy="4351338"/>
          </a:xfrm>
        </p:spPr>
        <p:txBody>
          <a:bodyPr/>
          <a:lstStyle/>
          <a:p>
            <a:pPr lvl="0" fontAlgn="base"/>
            <a:r>
              <a:rPr lang="en-US" sz="2400" dirty="0"/>
              <a:t>Algorithms, 4th </a:t>
            </a:r>
            <a:r>
              <a:rPr lang="en-US" sz="2400" dirty="0" err="1"/>
              <a:t>Edition;Author</a:t>
            </a:r>
            <a:r>
              <a:rPr lang="en-US" sz="2400" dirty="0"/>
              <a:t>(s)  Robert Sedgewick  and Kevin Wayne, Publisher: Addison-Wesley Professional; 2011  </a:t>
            </a:r>
          </a:p>
          <a:p>
            <a:pPr lvl="0" fontAlgn="base"/>
            <a:endParaRPr lang="en-US" sz="2400" dirty="0"/>
          </a:p>
          <a:p>
            <a:pPr lvl="0" fontAlgn="base"/>
            <a:r>
              <a:rPr lang="en-US" sz="2400" dirty="0"/>
              <a:t>Introduction to Algorithms 3rd Ed, </a:t>
            </a:r>
            <a:r>
              <a:rPr lang="en-US" sz="2400" dirty="0" err="1"/>
              <a:t>hal</a:t>
            </a:r>
            <a:r>
              <a:rPr lang="en-US" sz="2400" dirty="0"/>
              <a:t> 1002-1012. London. The MIT. Press,2009</a:t>
            </a:r>
          </a:p>
          <a:p>
            <a:pPr lvl="0" fontAlgn="base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650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3632-626E-47D5-278B-9F582F6B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Penilaian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FA203-E517-6523-4D4F-8D7197CBF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D" sz="2400" dirty="0" err="1"/>
              <a:t>Kehadiran</a:t>
            </a:r>
            <a:r>
              <a:rPr lang="en-ID" sz="2400" dirty="0"/>
              <a:t> =   </a:t>
            </a:r>
            <a:r>
              <a:rPr lang="id-ID" sz="2400" dirty="0"/>
              <a:t>10</a:t>
            </a:r>
            <a:r>
              <a:rPr lang="en-ID" sz="2400" dirty="0"/>
              <a:t> %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/>
              <a:t>UTS  =    10  %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/>
              <a:t>UAS  =    </a:t>
            </a:r>
            <a:r>
              <a:rPr lang="en-US" sz="2400" dirty="0"/>
              <a:t>10</a:t>
            </a:r>
            <a:r>
              <a:rPr lang="en-ID" sz="2400" dirty="0"/>
              <a:t>  %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 err="1"/>
              <a:t>Kuis</a:t>
            </a:r>
            <a:r>
              <a:rPr lang="en-ID" sz="2400" dirty="0"/>
              <a:t>  =  </a:t>
            </a:r>
            <a:r>
              <a:rPr lang="en-US" sz="2400" dirty="0"/>
              <a:t> 0 </a:t>
            </a:r>
            <a:r>
              <a:rPr lang="en-ID" sz="2400" dirty="0"/>
              <a:t>%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 err="1"/>
              <a:t>Tugas</a:t>
            </a:r>
            <a:r>
              <a:rPr lang="en-ID" sz="2400" dirty="0"/>
              <a:t> = 20 %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 err="1"/>
              <a:t>Tugas</a:t>
            </a:r>
            <a:r>
              <a:rPr lang="en-ID" sz="2400" dirty="0"/>
              <a:t> Project =  </a:t>
            </a:r>
            <a:r>
              <a:rPr lang="en-US" sz="2400" dirty="0"/>
              <a:t>50</a:t>
            </a:r>
            <a:r>
              <a:rPr lang="en-ID" sz="2400" dirty="0"/>
              <a:t> % (</a:t>
            </a:r>
            <a:r>
              <a:rPr lang="en-ID" sz="2400" dirty="0" err="1"/>
              <a:t>Berkelompok</a:t>
            </a:r>
            <a:r>
              <a:rPr lang="en-ID" sz="2400" dirty="0"/>
              <a:t>, 1 </a:t>
            </a:r>
            <a:r>
              <a:rPr lang="en-ID" sz="2400" dirty="0" err="1"/>
              <a:t>kelompok</a:t>
            </a:r>
            <a:r>
              <a:rPr lang="en-ID" sz="2400" dirty="0"/>
              <a:t> minimal 3 orang, </a:t>
            </a:r>
            <a:r>
              <a:rPr lang="en-ID" sz="2400" dirty="0" err="1"/>
              <a:t>maksimal</a:t>
            </a:r>
            <a:r>
              <a:rPr lang="en-ID" sz="2400" dirty="0"/>
              <a:t> 5 orang)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ID" sz="2400" dirty="0"/>
              <a:t>No. Handphone(WA) : 082281238309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1339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3786" y="2211351"/>
            <a:ext cx="5529197" cy="2243916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Searching Algorithm.?</a:t>
            </a:r>
          </a:p>
        </p:txBody>
      </p:sp>
      <p:pic>
        <p:nvPicPr>
          <p:cNvPr id="7" name="Picture Placeholder 6" descr="A robot and a person looking at a computer&#10;&#10;Description automatically generated">
            <a:extLst>
              <a:ext uri="{FF2B5EF4-FFF2-40B4-BE49-F238E27FC236}">
                <a16:creationId xmlns:a16="http://schemas.microsoft.com/office/drawing/2014/main" id="{FEE44C41-B39C-B9DE-D699-F1EDFB8F276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5" r="50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4573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18477" y="886379"/>
            <a:ext cx="5280565" cy="862411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Apa </a:t>
            </a:r>
            <a:r>
              <a:rPr lang="en-US" dirty="0" err="1">
                <a:latin typeface="+mj-lt"/>
              </a:rPr>
              <a:t>itu</a:t>
            </a:r>
            <a:r>
              <a:rPr lang="en-US" dirty="0">
                <a:latin typeface="+mj-lt"/>
              </a:rPr>
              <a:t> Algoritma </a:t>
            </a:r>
            <a:r>
              <a:rPr lang="en-US" dirty="0" err="1">
                <a:latin typeface="+mj-lt"/>
              </a:rPr>
              <a:t>Pencarian</a:t>
            </a:r>
            <a:r>
              <a:rPr lang="en-US" dirty="0">
                <a:latin typeface="+mj-lt"/>
              </a:rPr>
              <a:t>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7" y="1931669"/>
            <a:ext cx="5280565" cy="397651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	Algoritma </a:t>
            </a:r>
            <a:r>
              <a:rPr lang="en-US" sz="2400" dirty="0" err="1">
                <a:latin typeface="+mj-lt"/>
              </a:rPr>
              <a:t>pencarian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adalah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serangkaian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langkah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sistematis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untuk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menemukan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elemen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tertentu</a:t>
            </a:r>
            <a:r>
              <a:rPr lang="en-US" sz="2400" dirty="0">
                <a:latin typeface="+mj-lt"/>
              </a:rPr>
              <a:t> di </a:t>
            </a:r>
            <a:r>
              <a:rPr lang="en-US" sz="2400" dirty="0" err="1">
                <a:latin typeface="+mj-lt"/>
              </a:rPr>
              <a:t>dalam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struktur</a:t>
            </a:r>
            <a:r>
              <a:rPr lang="en-US" sz="2400" dirty="0">
                <a:latin typeface="+mj-lt"/>
              </a:rPr>
              <a:t> data, </a:t>
            </a:r>
            <a:r>
              <a:rPr lang="en-US" sz="2400" dirty="0" err="1">
                <a:latin typeface="+mj-lt"/>
              </a:rPr>
              <a:t>seperti</a:t>
            </a:r>
            <a:r>
              <a:rPr lang="en-US" sz="2400" dirty="0">
                <a:latin typeface="+mj-lt"/>
              </a:rPr>
              <a:t> daftar </a:t>
            </a:r>
            <a:r>
              <a:rPr lang="en-US" sz="2400" dirty="0" err="1">
                <a:latin typeface="+mj-lt"/>
              </a:rPr>
              <a:t>atau</a:t>
            </a:r>
            <a:r>
              <a:rPr lang="en-US" sz="2400" dirty="0">
                <a:latin typeface="+mj-lt"/>
              </a:rPr>
              <a:t> basis data. </a:t>
            </a:r>
          </a:p>
          <a:p>
            <a:r>
              <a:rPr lang="en-US" sz="2400" dirty="0">
                <a:latin typeface="+mj-lt"/>
              </a:rPr>
              <a:t>	Algoritma </a:t>
            </a:r>
            <a:r>
              <a:rPr lang="en-US" sz="2400" dirty="0" err="1">
                <a:latin typeface="+mj-lt"/>
              </a:rPr>
              <a:t>ini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bertujuan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untuk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menemukan</a:t>
            </a:r>
            <a:r>
              <a:rPr lang="en-US" sz="2400" dirty="0">
                <a:latin typeface="+mj-lt"/>
              </a:rPr>
              <a:t> data yang </a:t>
            </a:r>
            <a:r>
              <a:rPr lang="en-US" sz="2400" dirty="0" err="1">
                <a:latin typeface="+mj-lt"/>
              </a:rPr>
              <a:t>dicari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dengan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membandingkannya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berdasarkan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kriteria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tertentu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+mj-lt"/>
              </a:rPr>
              <a:t>dengan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hasil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akhirnya</a:t>
            </a:r>
            <a:r>
              <a:rPr lang="en-US" sz="2400" dirty="0">
                <a:latin typeface="+mj-lt"/>
              </a:rPr>
              <a:t> data </a:t>
            </a:r>
            <a:r>
              <a:rPr lang="en-US" sz="2400" dirty="0" err="1">
                <a:latin typeface="+mj-lt"/>
              </a:rPr>
              <a:t>ditemukan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atau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tidak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ditemukan</a:t>
            </a:r>
            <a:r>
              <a:rPr lang="en-US" sz="2400" dirty="0">
                <a:latin typeface="+mj-lt"/>
              </a:rPr>
              <a:t>.</a:t>
            </a:r>
          </a:p>
        </p:txBody>
      </p:sp>
      <p:pic>
        <p:nvPicPr>
          <p:cNvPr id="1026" name="Picture 2" descr="Memahami Dasar-Dasar Pemrograman untuk Karier IT yang Sukses | Berita |  Gamelab Indonesia">
            <a:extLst>
              <a:ext uri="{FF2B5EF4-FFF2-40B4-BE49-F238E27FC236}">
                <a16:creationId xmlns:a16="http://schemas.microsoft.com/office/drawing/2014/main" id="{61BBA8B4-E0B3-59BF-C784-C65E88A26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5" t="174" r="25488" b="5256"/>
          <a:stretch>
            <a:fillRect/>
          </a:stretch>
        </p:blipFill>
        <p:spPr bwMode="auto">
          <a:xfrm>
            <a:off x="716973" y="1010516"/>
            <a:ext cx="4783717" cy="48369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10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18478" y="886379"/>
            <a:ext cx="5280565" cy="86241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Bagaimana</a:t>
            </a:r>
            <a:r>
              <a:rPr lang="en-US" dirty="0"/>
              <a:t> Algoritma </a:t>
            </a:r>
            <a:r>
              <a:rPr lang="en-US" dirty="0" err="1"/>
              <a:t>Pencarian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8" y="1975378"/>
            <a:ext cx="5636214" cy="425778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+mn-lt"/>
              </a:rPr>
              <a:t>1. </a:t>
            </a:r>
            <a:r>
              <a:rPr lang="en-US" sz="2400" dirty="0" err="1">
                <a:latin typeface="+mn-lt"/>
              </a:rPr>
              <a:t>Menerima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Kunci</a:t>
            </a:r>
            <a:r>
              <a:rPr lang="en-US" sz="2400" dirty="0">
                <a:latin typeface="+mn-lt"/>
              </a:rPr>
              <a:t>: Algoritma </a:t>
            </a:r>
            <a:r>
              <a:rPr lang="en-US" sz="2400" dirty="0" err="1">
                <a:latin typeface="+mn-lt"/>
              </a:rPr>
              <a:t>menerima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sebuah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nilai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atau</a:t>
            </a:r>
            <a:r>
              <a:rPr lang="en-US" sz="2400" dirty="0">
                <a:latin typeface="+mn-lt"/>
              </a:rPr>
              <a:t> "</a:t>
            </a:r>
            <a:r>
              <a:rPr lang="en-US" sz="2400" dirty="0" err="1">
                <a:latin typeface="+mn-lt"/>
              </a:rPr>
              <a:t>kunci</a:t>
            </a:r>
            <a:r>
              <a:rPr lang="en-US" sz="2400" dirty="0">
                <a:latin typeface="+mn-lt"/>
              </a:rPr>
              <a:t>" yang menjadi target </a:t>
            </a:r>
            <a:r>
              <a:rPr lang="en-US" sz="2400" dirty="0" err="1">
                <a:latin typeface="+mn-lt"/>
              </a:rPr>
              <a:t>pencarian</a:t>
            </a:r>
            <a:r>
              <a:rPr lang="en-US" sz="2400" dirty="0">
                <a:latin typeface="+mn-lt"/>
              </a:rPr>
              <a:t>. </a:t>
            </a:r>
          </a:p>
          <a:p>
            <a:r>
              <a:rPr lang="en-US" sz="2400" dirty="0">
                <a:latin typeface="+mn-lt"/>
              </a:rPr>
              <a:t>2. </a:t>
            </a:r>
            <a:r>
              <a:rPr lang="en-US" sz="2400" dirty="0" err="1">
                <a:latin typeface="+mn-lt"/>
              </a:rPr>
              <a:t>Membandingkan</a:t>
            </a:r>
            <a:r>
              <a:rPr lang="en-US" sz="2400" dirty="0">
                <a:latin typeface="+mn-lt"/>
              </a:rPr>
              <a:t> Data: Algoritma </a:t>
            </a:r>
            <a:r>
              <a:rPr lang="en-US" sz="2400" dirty="0" err="1">
                <a:latin typeface="+mn-lt"/>
              </a:rPr>
              <a:t>akan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membandingkan</a:t>
            </a:r>
            <a:r>
              <a:rPr lang="en-US" sz="2400" dirty="0">
                <a:latin typeface="+mn-lt"/>
              </a:rPr>
              <a:t> data yang </a:t>
            </a:r>
            <a:r>
              <a:rPr lang="en-US" sz="2400" dirty="0" err="1">
                <a:latin typeface="+mn-lt"/>
              </a:rPr>
              <a:t>ada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dengan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kunci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tersebut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secara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sistematis</a:t>
            </a:r>
            <a:r>
              <a:rPr lang="en-US" sz="2400" dirty="0">
                <a:latin typeface="+mn-lt"/>
              </a:rPr>
              <a:t>. </a:t>
            </a:r>
          </a:p>
          <a:p>
            <a:r>
              <a:rPr lang="en-US" sz="2400" dirty="0">
                <a:latin typeface="+mn-lt"/>
              </a:rPr>
              <a:t>3. Hasil </a:t>
            </a:r>
            <a:r>
              <a:rPr lang="en-US" sz="2400" dirty="0" err="1">
                <a:latin typeface="+mn-lt"/>
              </a:rPr>
              <a:t>Pencarian</a:t>
            </a:r>
            <a:r>
              <a:rPr lang="en-US" sz="2400" dirty="0">
                <a:latin typeface="+mn-lt"/>
              </a:rPr>
              <a:t>: </a:t>
            </a:r>
            <a:r>
              <a:rPr lang="en-US" sz="2400" dirty="0" err="1">
                <a:latin typeface="+mn-lt"/>
              </a:rPr>
              <a:t>Setelah</a:t>
            </a:r>
            <a:r>
              <a:rPr lang="en-US" sz="2400" dirty="0">
                <a:latin typeface="+mn-lt"/>
              </a:rPr>
              <a:t> proses </a:t>
            </a:r>
            <a:r>
              <a:rPr lang="en-US" sz="2400" dirty="0" err="1">
                <a:latin typeface="+mn-lt"/>
              </a:rPr>
              <a:t>selesai</a:t>
            </a:r>
            <a:r>
              <a:rPr lang="en-US" sz="2400" dirty="0">
                <a:latin typeface="+mn-lt"/>
              </a:rPr>
              <a:t>, </a:t>
            </a:r>
            <a:r>
              <a:rPr lang="en-US" sz="2400" dirty="0" err="1">
                <a:latin typeface="+mn-lt"/>
              </a:rPr>
              <a:t>ada</a:t>
            </a:r>
            <a:r>
              <a:rPr lang="en-US" sz="2400" dirty="0">
                <a:latin typeface="+mn-lt"/>
              </a:rPr>
              <a:t> dua </a:t>
            </a:r>
            <a:r>
              <a:rPr lang="en-US" sz="2400" dirty="0" err="1">
                <a:latin typeface="+mn-lt"/>
              </a:rPr>
              <a:t>kemungkinan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hasil</a:t>
            </a:r>
            <a:r>
              <a:rPr lang="en-US" sz="2400" dirty="0">
                <a:latin typeface="+mn-lt"/>
              </a:rPr>
              <a:t>: data </a:t>
            </a:r>
            <a:r>
              <a:rPr lang="en-US" sz="2400" dirty="0" err="1">
                <a:latin typeface="+mn-lt"/>
              </a:rPr>
              <a:t>ditemukan</a:t>
            </a:r>
            <a:r>
              <a:rPr lang="en-US" sz="2400" dirty="0">
                <a:latin typeface="+mn-lt"/>
              </a:rPr>
              <a:t> (successful) </a:t>
            </a:r>
            <a:r>
              <a:rPr lang="en-US" sz="2400" dirty="0" err="1">
                <a:latin typeface="+mn-lt"/>
              </a:rPr>
              <a:t>atau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tidak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ditemukan</a:t>
            </a:r>
            <a:r>
              <a:rPr lang="en-US" sz="2400" dirty="0">
                <a:latin typeface="+mn-lt"/>
              </a:rPr>
              <a:t> (unsuccessful). </a:t>
            </a:r>
          </a:p>
        </p:txBody>
      </p:sp>
      <p:pic>
        <p:nvPicPr>
          <p:cNvPr id="2050" name="Picture 2" descr="Pemrograman: Dasar-dasar dan Mengapa Itu Penting - Logika Program">
            <a:extLst>
              <a:ext uri="{FF2B5EF4-FFF2-40B4-BE49-F238E27FC236}">
                <a16:creationId xmlns:a16="http://schemas.microsoft.com/office/drawing/2014/main" id="{AD14B514-A082-7706-CA86-735682C01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17" y="1975378"/>
            <a:ext cx="5571257" cy="31338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02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F5F8-0B0D-2576-B8B4-CC83E63F32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Jenis-</a:t>
            </a:r>
            <a:r>
              <a:rPr lang="en-US" dirty="0" err="1"/>
              <a:t>jenis</a:t>
            </a:r>
            <a:r>
              <a:rPr lang="en-US" dirty="0"/>
              <a:t> Algoritma Searching</a:t>
            </a:r>
            <a:endParaRPr lang="en-ID" dirty="0"/>
          </a:p>
        </p:txBody>
      </p:sp>
      <p:pic>
        <p:nvPicPr>
          <p:cNvPr id="4" name="Picture Placeholder 6" descr="A robot and a person looking at a computer&#10;&#10;Description automatically generated">
            <a:extLst>
              <a:ext uri="{FF2B5EF4-FFF2-40B4-BE49-F238E27FC236}">
                <a16:creationId xmlns:a16="http://schemas.microsoft.com/office/drawing/2014/main" id="{26D2D355-BCEB-EA9C-A043-E5E22198BF0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5" r="5095"/>
          <a:stretch>
            <a:fillRect/>
          </a:stretch>
        </p:blipFill>
        <p:spPr>
          <a:xfrm>
            <a:off x="0" y="500063"/>
            <a:ext cx="5316538" cy="5856287"/>
          </a:xfrm>
        </p:spPr>
      </p:pic>
    </p:spTree>
    <p:extLst>
      <p:ext uri="{BB962C8B-B14F-4D97-AF65-F5344CB8AC3E}">
        <p14:creationId xmlns:p14="http://schemas.microsoft.com/office/powerpoint/2010/main" val="269333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18478" y="763850"/>
            <a:ext cx="5280565" cy="862411"/>
          </a:xfrm>
        </p:spPr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en-US" dirty="0" err="1"/>
              <a:t>Pencarian</a:t>
            </a:r>
            <a:r>
              <a:rPr lang="en-US" dirty="0"/>
              <a:t> Linier (Sequential Search) 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8" y="1857984"/>
            <a:ext cx="5636214" cy="4375176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D" sz="2400" b="1" dirty="0"/>
              <a:t>Cara </a:t>
            </a:r>
            <a:r>
              <a:rPr lang="en-ID" sz="2400" b="1" dirty="0" err="1"/>
              <a:t>Kerja</a:t>
            </a:r>
            <a:r>
              <a:rPr lang="en-ID" sz="2400" b="1" dirty="0"/>
              <a:t>: </a:t>
            </a:r>
            <a:r>
              <a:rPr lang="en-ID" sz="2400" dirty="0"/>
              <a:t>Metode paling </a:t>
            </a:r>
            <a:r>
              <a:rPr lang="en-ID" sz="2400" dirty="0" err="1"/>
              <a:t>sederhana</a:t>
            </a:r>
            <a:r>
              <a:rPr lang="en-ID" sz="2400" dirty="0"/>
              <a:t>. </a:t>
            </a:r>
            <a:r>
              <a:rPr lang="en-ID" sz="2400" dirty="0" err="1"/>
              <a:t>Ia</a:t>
            </a:r>
            <a:r>
              <a:rPr lang="en-ID" sz="2400" dirty="0"/>
              <a:t> </a:t>
            </a:r>
            <a:r>
              <a:rPr lang="en-ID" sz="2400" dirty="0" err="1"/>
              <a:t>memeriksa</a:t>
            </a:r>
            <a:r>
              <a:rPr lang="en-ID" sz="2400" dirty="0"/>
              <a:t> </a:t>
            </a:r>
            <a:r>
              <a:rPr lang="en-ID" sz="2400" dirty="0" err="1"/>
              <a:t>setiap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sebuah</a:t>
            </a:r>
            <a:r>
              <a:rPr lang="en-ID" sz="2400" dirty="0"/>
              <a:t> daftar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larik</a:t>
            </a:r>
            <a:r>
              <a:rPr lang="en-ID" sz="2400" dirty="0"/>
              <a:t> </a:t>
            </a:r>
            <a:r>
              <a:rPr lang="en-ID" sz="2400" dirty="0" err="1"/>
              <a:t>satu</a:t>
            </a:r>
            <a:r>
              <a:rPr lang="en-ID" sz="2400" dirty="0"/>
              <a:t> per </a:t>
            </a:r>
            <a:r>
              <a:rPr lang="en-ID" sz="2400" dirty="0" err="1"/>
              <a:t>satu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berurutan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awal</a:t>
            </a:r>
            <a:r>
              <a:rPr lang="en-ID" sz="2400" dirty="0"/>
              <a:t> </a:t>
            </a:r>
            <a:r>
              <a:rPr lang="en-ID" sz="2400" dirty="0" err="1"/>
              <a:t>sampai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yang </a:t>
            </a:r>
            <a:r>
              <a:rPr lang="en-ID" sz="2400" dirty="0" err="1"/>
              <a:t>dicari</a:t>
            </a:r>
            <a:r>
              <a:rPr lang="en-ID" sz="2400" dirty="0"/>
              <a:t> </a:t>
            </a:r>
            <a:r>
              <a:rPr lang="en-ID" sz="2400" dirty="0" err="1"/>
              <a:t>ditemukan</a:t>
            </a:r>
            <a:r>
              <a:rPr lang="en-ID" sz="2400" dirty="0"/>
              <a:t>,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sampai</a:t>
            </a:r>
            <a:r>
              <a:rPr lang="en-ID" sz="2400" dirty="0"/>
              <a:t> </a:t>
            </a:r>
            <a:r>
              <a:rPr lang="en-ID" sz="2400" dirty="0" err="1"/>
              <a:t>akhir</a:t>
            </a:r>
            <a:r>
              <a:rPr lang="en-ID" sz="2400" dirty="0"/>
              <a:t> daftar </a:t>
            </a:r>
            <a:r>
              <a:rPr lang="en-ID" sz="2400" dirty="0" err="1"/>
              <a:t>jika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ada</a:t>
            </a:r>
            <a:r>
              <a:rPr lang="en-ID" sz="24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D" sz="2400" b="1" dirty="0"/>
              <a:t>Kapan </a:t>
            </a:r>
            <a:r>
              <a:rPr lang="en-ID" sz="2400" b="1" dirty="0" err="1"/>
              <a:t>Digunakan</a:t>
            </a:r>
            <a:r>
              <a:rPr lang="en-ID" sz="2400" b="1" dirty="0"/>
              <a:t>: </a:t>
            </a:r>
            <a:r>
              <a:rPr lang="en-ID" sz="2400" dirty="0" err="1"/>
              <a:t>Cocok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data yang </a:t>
            </a:r>
            <a:r>
              <a:rPr lang="en-ID" sz="2400" dirty="0" err="1"/>
              <a:t>belum</a:t>
            </a:r>
            <a:r>
              <a:rPr lang="en-ID" sz="2400" dirty="0"/>
              <a:t> </a:t>
            </a:r>
            <a:r>
              <a:rPr lang="en-ID" sz="2400" dirty="0" err="1"/>
              <a:t>terurut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daftar yang sangat </a:t>
            </a:r>
            <a:r>
              <a:rPr lang="en-ID" sz="2400" dirty="0" err="1"/>
              <a:t>kecil</a:t>
            </a:r>
            <a:r>
              <a:rPr lang="en-ID" sz="2400" dirty="0"/>
              <a:t>,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efisiensinya</a:t>
            </a:r>
            <a:r>
              <a:rPr lang="en-ID" sz="2400" dirty="0"/>
              <a:t> </a:t>
            </a:r>
            <a:r>
              <a:rPr lang="en-ID" sz="2400" dirty="0" err="1"/>
              <a:t>menurun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cepat</a:t>
            </a:r>
            <a:r>
              <a:rPr lang="en-ID" sz="2400" dirty="0"/>
              <a:t> pada data </a:t>
            </a:r>
            <a:r>
              <a:rPr lang="en-ID" sz="2400" dirty="0" err="1"/>
              <a:t>besar</a:t>
            </a:r>
            <a:r>
              <a:rPr lang="en-ID" sz="2400" dirty="0"/>
              <a:t>. </a:t>
            </a:r>
          </a:p>
        </p:txBody>
      </p:sp>
      <p:pic>
        <p:nvPicPr>
          <p:cNvPr id="2" name="Picture 2" descr="Linear Search Algorithm: Searching Algorithms | by Naem Azam Chowdhury |  Medium">
            <a:extLst>
              <a:ext uri="{FF2B5EF4-FFF2-40B4-BE49-F238E27FC236}">
                <a16:creationId xmlns:a16="http://schemas.microsoft.com/office/drawing/2014/main" id="{5B6B83F5-1D21-F93A-EB8D-11D4C947CD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8889" r="15000" b="44074"/>
          <a:stretch>
            <a:fillRect/>
          </a:stretch>
        </p:blipFill>
        <p:spPr bwMode="auto">
          <a:xfrm>
            <a:off x="211576" y="2695176"/>
            <a:ext cx="5459649" cy="14676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5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E344C-573B-ABD1-5F92-EFCE16835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477" y="682098"/>
            <a:ext cx="5280565" cy="1218156"/>
          </a:xfrm>
        </p:spPr>
        <p:txBody>
          <a:bodyPr>
            <a:normAutofit/>
          </a:bodyPr>
          <a:lstStyle/>
          <a:p>
            <a:r>
              <a:rPr lang="en-ID" dirty="0"/>
              <a:t>2. </a:t>
            </a:r>
            <a:r>
              <a:rPr lang="en-ID" dirty="0" err="1"/>
              <a:t>Pencarian</a:t>
            </a:r>
            <a:r>
              <a:rPr lang="en-ID" dirty="0"/>
              <a:t> Biner (Binary Search)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B40BD-89FD-11A0-EBB2-BA6351095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18477" y="1900254"/>
            <a:ext cx="5628255" cy="460015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/>
              <a:t>Cara </a:t>
            </a:r>
            <a:r>
              <a:rPr lang="en-ID" sz="2400" b="1" dirty="0" err="1"/>
              <a:t>Kerja</a:t>
            </a:r>
            <a:r>
              <a:rPr lang="en-ID" sz="2400" b="1" dirty="0"/>
              <a:t>: </a:t>
            </a:r>
            <a:r>
              <a:rPr lang="en-ID" sz="2400" dirty="0"/>
              <a:t>Algoritma </a:t>
            </a:r>
            <a:r>
              <a:rPr lang="en-ID" sz="2400" dirty="0" err="1"/>
              <a:t>ini</a:t>
            </a:r>
            <a:r>
              <a:rPr lang="en-ID" sz="2400" dirty="0"/>
              <a:t> sangat </a:t>
            </a:r>
            <a:r>
              <a:rPr lang="en-ID" sz="2400" dirty="0" err="1"/>
              <a:t>efisien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data yang </a:t>
            </a:r>
            <a:r>
              <a:rPr lang="en-ID" sz="2400" dirty="0" err="1"/>
              <a:t>sudah</a:t>
            </a:r>
            <a:r>
              <a:rPr lang="en-ID" sz="2400" dirty="0"/>
              <a:t> </a:t>
            </a:r>
            <a:r>
              <a:rPr lang="en-ID" sz="2400" dirty="0" err="1"/>
              <a:t>terurut</a:t>
            </a:r>
            <a:r>
              <a:rPr lang="en-ID" sz="2400" dirty="0"/>
              <a:t>. </a:t>
            </a:r>
            <a:r>
              <a:rPr lang="en-ID" sz="2400" dirty="0" err="1"/>
              <a:t>Ia</a:t>
            </a:r>
            <a:r>
              <a:rPr lang="en-ID" sz="2400" dirty="0"/>
              <a:t> </a:t>
            </a:r>
            <a:r>
              <a:rPr lang="en-ID" sz="2400" dirty="0" err="1"/>
              <a:t>bekerja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cara</a:t>
            </a:r>
            <a:r>
              <a:rPr lang="en-ID" sz="2400" dirty="0"/>
              <a:t> </a:t>
            </a:r>
            <a:r>
              <a:rPr lang="en-ID" sz="2400" dirty="0" err="1"/>
              <a:t>membagi</a:t>
            </a:r>
            <a:r>
              <a:rPr lang="en-ID" sz="2400" dirty="0"/>
              <a:t> </a:t>
            </a:r>
            <a:r>
              <a:rPr lang="en-ID" sz="2400" dirty="0" err="1"/>
              <a:t>larik</a:t>
            </a:r>
            <a:r>
              <a:rPr lang="en-ID" sz="2400" dirty="0"/>
              <a:t> menjadi dua </a:t>
            </a:r>
            <a:r>
              <a:rPr lang="en-ID" sz="2400" dirty="0" err="1"/>
              <a:t>bagian</a:t>
            </a:r>
            <a:r>
              <a:rPr lang="en-ID" sz="2400" dirty="0"/>
              <a:t> pada </a:t>
            </a:r>
            <a:r>
              <a:rPr lang="en-ID" sz="2400" dirty="0" err="1"/>
              <a:t>setiap</a:t>
            </a:r>
            <a:r>
              <a:rPr lang="en-ID" sz="2400" dirty="0"/>
              <a:t> </a:t>
            </a:r>
            <a:r>
              <a:rPr lang="en-ID" sz="2400" dirty="0" err="1"/>
              <a:t>langkah</a:t>
            </a:r>
            <a:r>
              <a:rPr lang="en-ID" sz="2400" dirty="0"/>
              <a:t>, </a:t>
            </a:r>
            <a:r>
              <a:rPr lang="en-ID" sz="2400" dirty="0" err="1"/>
              <a:t>lalu</a:t>
            </a:r>
            <a:r>
              <a:rPr lang="en-ID" sz="2400" dirty="0"/>
              <a:t> </a:t>
            </a:r>
            <a:r>
              <a:rPr lang="en-ID" sz="2400" dirty="0" err="1"/>
              <a:t>membandingkan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yang </a:t>
            </a:r>
            <a:r>
              <a:rPr lang="en-ID" sz="2400" dirty="0" err="1"/>
              <a:t>dicari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</a:t>
            </a:r>
            <a:r>
              <a:rPr lang="en-ID" sz="2400" dirty="0" err="1"/>
              <a:t>tengah</a:t>
            </a:r>
            <a:r>
              <a:rPr lang="en-ID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/>
              <a:t>Kapan </a:t>
            </a:r>
            <a:r>
              <a:rPr lang="en-ID" sz="2400" b="1" dirty="0" err="1"/>
              <a:t>Digunakan</a:t>
            </a:r>
            <a:r>
              <a:rPr lang="en-ID" sz="2400" b="1" dirty="0"/>
              <a:t>: </a:t>
            </a:r>
            <a:r>
              <a:rPr lang="en-ID" sz="2400" dirty="0"/>
              <a:t>Ideal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kumpulan</a:t>
            </a:r>
            <a:r>
              <a:rPr lang="en-ID" sz="2400" dirty="0"/>
              <a:t> data yang sangat </a:t>
            </a:r>
            <a:r>
              <a:rPr lang="en-ID" sz="2400" dirty="0" err="1"/>
              <a:t>besar</a:t>
            </a:r>
            <a:r>
              <a:rPr lang="en-ID" sz="2400" dirty="0"/>
              <a:t> dan </a:t>
            </a:r>
            <a:r>
              <a:rPr lang="en-ID" sz="2400" dirty="0" err="1"/>
              <a:t>terurut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cepat</a:t>
            </a:r>
            <a:r>
              <a:rPr lang="en-ID" sz="2400" dirty="0"/>
              <a:t> </a:t>
            </a:r>
            <a:r>
              <a:rPr lang="en-ID" sz="2400" dirty="0" err="1"/>
              <a:t>dibandingkan</a:t>
            </a:r>
            <a:r>
              <a:rPr lang="en-ID" sz="2400" dirty="0"/>
              <a:t> </a:t>
            </a:r>
            <a:r>
              <a:rPr lang="en-ID" sz="2400" dirty="0" err="1"/>
              <a:t>pencarian</a:t>
            </a:r>
            <a:r>
              <a:rPr lang="en-ID" sz="2400" dirty="0"/>
              <a:t> linier. </a:t>
            </a:r>
          </a:p>
        </p:txBody>
      </p:sp>
      <p:pic>
        <p:nvPicPr>
          <p:cNvPr id="2" name="Picture 2" descr="Time and Space Complexity Analysis of Binary Search Algorithm -  GeeksforGeeks">
            <a:extLst>
              <a:ext uri="{FF2B5EF4-FFF2-40B4-BE49-F238E27FC236}">
                <a16:creationId xmlns:a16="http://schemas.microsoft.com/office/drawing/2014/main" id="{C34A3A29-5F67-51EE-E5F6-9F87E82A7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1900254"/>
            <a:ext cx="5484361" cy="30544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4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209ECC-EA88-3646-E33A-0201AA1E1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477" y="652916"/>
            <a:ext cx="5280565" cy="1218156"/>
          </a:xfrm>
        </p:spPr>
        <p:txBody>
          <a:bodyPr>
            <a:normAutofit/>
          </a:bodyPr>
          <a:lstStyle/>
          <a:p>
            <a:r>
              <a:rPr lang="en-ID" dirty="0"/>
              <a:t>3. </a:t>
            </a:r>
            <a:r>
              <a:rPr lang="en-ID" dirty="0" err="1"/>
              <a:t>Pencarian</a:t>
            </a:r>
            <a:r>
              <a:rPr lang="en-ID" dirty="0"/>
              <a:t> </a:t>
            </a:r>
            <a:r>
              <a:rPr lang="en-ID" dirty="0" err="1"/>
              <a:t>Interpolasi</a:t>
            </a:r>
            <a:r>
              <a:rPr lang="en-ID" dirty="0"/>
              <a:t> (Interpolation Search)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AC7AB-2896-FD32-907F-9453F6865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18477" y="1871072"/>
            <a:ext cx="5280565" cy="4334011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/>
              <a:t>Cara </a:t>
            </a:r>
            <a:r>
              <a:rPr lang="en-ID" sz="2400" b="1" dirty="0" err="1"/>
              <a:t>Kerja</a:t>
            </a:r>
            <a:r>
              <a:rPr lang="en-ID" sz="2400" b="1" dirty="0"/>
              <a:t>: </a:t>
            </a:r>
            <a:r>
              <a:rPr lang="en-ID" sz="2400" dirty="0" err="1"/>
              <a:t>Mirip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pencarian</a:t>
            </a:r>
            <a:r>
              <a:rPr lang="en-ID" sz="2400" dirty="0"/>
              <a:t> biner, </a:t>
            </a:r>
            <a:r>
              <a:rPr lang="en-ID" sz="2400" dirty="0" err="1"/>
              <a:t>tetapi</a:t>
            </a:r>
            <a:r>
              <a:rPr lang="en-ID" sz="2400" dirty="0"/>
              <a:t> </a:t>
            </a:r>
            <a:r>
              <a:rPr lang="en-ID" sz="2400" dirty="0" err="1"/>
              <a:t>ia</a:t>
            </a:r>
            <a:r>
              <a:rPr lang="en-ID" sz="2400" dirty="0"/>
              <a:t> </a:t>
            </a:r>
            <a:r>
              <a:rPr lang="en-ID" sz="2400" dirty="0" err="1"/>
              <a:t>menggunakan</a:t>
            </a:r>
            <a:r>
              <a:rPr lang="en-ID" sz="2400" dirty="0"/>
              <a:t> </a:t>
            </a:r>
            <a:r>
              <a:rPr lang="en-ID" sz="2400" dirty="0" err="1"/>
              <a:t>estimasi</a:t>
            </a:r>
            <a:r>
              <a:rPr lang="en-ID" sz="2400" dirty="0"/>
              <a:t> </a:t>
            </a:r>
            <a:r>
              <a:rPr lang="en-ID" sz="2400" dirty="0" err="1"/>
              <a:t>nilai</a:t>
            </a:r>
            <a:r>
              <a:rPr lang="en-ID" sz="2400" dirty="0"/>
              <a:t> </a:t>
            </a:r>
            <a:r>
              <a:rPr lang="en-ID" sz="2400" dirty="0" err="1"/>
              <a:t>kunci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memperkirakan</a:t>
            </a:r>
            <a:r>
              <a:rPr lang="en-ID" sz="2400" dirty="0"/>
              <a:t> </a:t>
            </a:r>
            <a:r>
              <a:rPr lang="en-ID" sz="2400" dirty="0" err="1"/>
              <a:t>posisi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yang </a:t>
            </a:r>
            <a:r>
              <a:rPr lang="en-ID" sz="2400" dirty="0" err="1"/>
              <a:t>dicari</a:t>
            </a:r>
            <a:r>
              <a:rPr lang="en-ID" sz="2400" dirty="0"/>
              <a:t>, </a:t>
            </a:r>
            <a:r>
              <a:rPr lang="en-ID" sz="2400" dirty="0" err="1"/>
              <a:t>bukan</a:t>
            </a:r>
            <a:r>
              <a:rPr lang="en-ID" sz="2400" dirty="0"/>
              <a:t> </a:t>
            </a:r>
            <a:r>
              <a:rPr lang="en-ID" sz="2400" dirty="0" err="1"/>
              <a:t>hanya</a:t>
            </a:r>
            <a:r>
              <a:rPr lang="en-ID" sz="2400" dirty="0"/>
              <a:t> </a:t>
            </a:r>
            <a:r>
              <a:rPr lang="en-ID" sz="2400" dirty="0" err="1"/>
              <a:t>membagi</a:t>
            </a:r>
            <a:r>
              <a:rPr lang="en-ID" sz="2400" dirty="0"/>
              <a:t> dua </a:t>
            </a:r>
            <a:r>
              <a:rPr lang="en-ID" sz="2400" dirty="0" err="1"/>
              <a:t>secara</a:t>
            </a:r>
            <a:r>
              <a:rPr lang="en-ID" sz="2400" dirty="0"/>
              <a:t> rata. Ini </a:t>
            </a:r>
            <a:r>
              <a:rPr lang="en-ID" sz="2400" dirty="0" err="1"/>
              <a:t>bekerja</a:t>
            </a:r>
            <a:r>
              <a:rPr lang="en-ID" sz="2400" dirty="0"/>
              <a:t> paling </a:t>
            </a:r>
            <a:r>
              <a:rPr lang="en-ID" sz="2400" dirty="0" err="1"/>
              <a:t>baik</a:t>
            </a:r>
            <a:r>
              <a:rPr lang="en-ID" sz="2400" dirty="0"/>
              <a:t> </a:t>
            </a:r>
            <a:r>
              <a:rPr lang="en-ID" sz="2400" dirty="0" err="1"/>
              <a:t>ketika</a:t>
            </a:r>
            <a:r>
              <a:rPr lang="en-ID" sz="2400" dirty="0"/>
              <a:t> data </a:t>
            </a:r>
            <a:r>
              <a:rPr lang="en-ID" sz="2400" dirty="0" err="1"/>
              <a:t>terurut</a:t>
            </a:r>
            <a:r>
              <a:rPr lang="en-ID" sz="2400" dirty="0"/>
              <a:t> dan </a:t>
            </a:r>
            <a:r>
              <a:rPr lang="en-ID" sz="2400" dirty="0" err="1"/>
              <a:t>didistribusikan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merata</a:t>
            </a:r>
            <a:r>
              <a:rPr lang="en-ID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/>
              <a:t>Kapan </a:t>
            </a:r>
            <a:r>
              <a:rPr lang="en-ID" sz="2400" b="1" dirty="0" err="1"/>
              <a:t>Digunakan</a:t>
            </a:r>
            <a:r>
              <a:rPr lang="en-ID" sz="2400" b="1" dirty="0"/>
              <a:t>: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efisien</a:t>
            </a:r>
            <a:r>
              <a:rPr lang="en-ID" sz="2400" dirty="0"/>
              <a:t> </a:t>
            </a:r>
            <a:r>
              <a:rPr lang="en-ID" sz="2400" dirty="0" err="1"/>
              <a:t>daripada</a:t>
            </a:r>
            <a:r>
              <a:rPr lang="en-ID" sz="2400" dirty="0"/>
              <a:t> </a:t>
            </a:r>
            <a:r>
              <a:rPr lang="en-ID" sz="2400" dirty="0" err="1"/>
              <a:t>pencarian</a:t>
            </a:r>
            <a:r>
              <a:rPr lang="en-ID" sz="2400" dirty="0"/>
              <a:t> biner </a:t>
            </a:r>
            <a:r>
              <a:rPr lang="en-ID" sz="2400" dirty="0" err="1"/>
              <a:t>jika</a:t>
            </a:r>
            <a:r>
              <a:rPr lang="en-ID" sz="2400" dirty="0"/>
              <a:t> data </a:t>
            </a:r>
            <a:r>
              <a:rPr lang="en-ID" sz="2400" dirty="0" err="1"/>
              <a:t>terdistribusi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seragam</a:t>
            </a:r>
            <a:r>
              <a:rPr lang="en-ID" sz="2400" dirty="0"/>
              <a:t>, dan </a:t>
            </a:r>
            <a:r>
              <a:rPr lang="en-ID" sz="2400" dirty="0" err="1"/>
              <a:t>memungkinkan</a:t>
            </a:r>
            <a:r>
              <a:rPr lang="en-ID" sz="2400" dirty="0"/>
              <a:t> </a:t>
            </a:r>
            <a:r>
              <a:rPr lang="en-ID" sz="2400" dirty="0" err="1"/>
              <a:t>pencarian</a:t>
            </a:r>
            <a:r>
              <a:rPr lang="en-ID" sz="2400" dirty="0"/>
              <a:t>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cepat</a:t>
            </a:r>
            <a:r>
              <a:rPr lang="en-ID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C48497-C0AF-FE31-92DE-388870D35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6" y="2160165"/>
            <a:ext cx="5826751" cy="2537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401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BB161-9FAA-D752-47FB-0B6B9387F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18477" y="886379"/>
            <a:ext cx="5628255" cy="5021807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/>
              <a:t>Algoritma </a:t>
            </a:r>
            <a:r>
              <a:rPr lang="en-ID" sz="2400" b="1" dirty="0" err="1"/>
              <a:t>pencarian</a:t>
            </a:r>
            <a:r>
              <a:rPr lang="en-ID" sz="2400" b="1" dirty="0"/>
              <a:t> </a:t>
            </a:r>
            <a:r>
              <a:rPr lang="en-ID" sz="2400" b="1" dirty="0" err="1"/>
              <a:t>pohon</a:t>
            </a:r>
            <a:r>
              <a:rPr lang="en-ID" sz="2400" b="1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jantung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teknik-teknik</a:t>
            </a:r>
            <a:r>
              <a:rPr lang="en-ID" sz="2400" dirty="0"/>
              <a:t> </a:t>
            </a:r>
            <a:r>
              <a:rPr lang="en-ID" sz="2400" dirty="0" err="1"/>
              <a:t>pencarian</a:t>
            </a:r>
            <a:r>
              <a:rPr lang="en-ID" sz="2400" dirty="0"/>
              <a:t>. Algoritma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mencari</a:t>
            </a:r>
            <a:r>
              <a:rPr lang="en-ID" sz="2400" dirty="0"/>
              <a:t> node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pohon</a:t>
            </a:r>
            <a:r>
              <a:rPr lang="en-ID" sz="2400" dirty="0"/>
              <a:t>, </a:t>
            </a:r>
            <a:r>
              <a:rPr lang="en-ID" sz="2400" dirty="0" err="1"/>
              <a:t>terlepas</a:t>
            </a:r>
            <a:r>
              <a:rPr lang="en-ID" sz="2400" dirty="0"/>
              <a:t> </a:t>
            </a:r>
            <a:r>
              <a:rPr lang="en-ID" sz="2400" dirty="0" err="1"/>
              <a:t>apakah</a:t>
            </a:r>
            <a:r>
              <a:rPr lang="en-ID" sz="2400" dirty="0"/>
              <a:t> </a:t>
            </a:r>
            <a:r>
              <a:rPr lang="en-ID" sz="2400" dirty="0" err="1"/>
              <a:t>pohon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eksplisit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implisit</a:t>
            </a:r>
            <a:r>
              <a:rPr lang="en-ID" sz="2400" dirty="0"/>
              <a:t> (</a:t>
            </a:r>
            <a:r>
              <a:rPr lang="en-ID" sz="2400" dirty="0" err="1"/>
              <a:t>dibangkitkan</a:t>
            </a:r>
            <a:r>
              <a:rPr lang="en-ID" sz="2400" dirty="0"/>
              <a:t> </a:t>
            </a:r>
            <a:r>
              <a:rPr lang="en-ID" sz="2400" dirty="0" err="1"/>
              <a:t>saat</a:t>
            </a:r>
            <a:r>
              <a:rPr lang="en-ID" sz="2400" dirty="0"/>
              <a:t> </a:t>
            </a:r>
            <a:r>
              <a:rPr lang="en-ID" sz="2400" dirty="0" err="1"/>
              <a:t>pengerjaan</a:t>
            </a:r>
            <a:r>
              <a:rPr lang="en-ID" sz="24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/>
              <a:t>Algoritma </a:t>
            </a:r>
            <a:r>
              <a:rPr lang="en-ID" sz="2400" b="1" dirty="0" err="1"/>
              <a:t>Pencarian</a:t>
            </a:r>
            <a:r>
              <a:rPr lang="en-ID" sz="2400" b="1" dirty="0"/>
              <a:t> pada AI: </a:t>
            </a:r>
            <a:r>
              <a:rPr lang="en-ID" sz="2400" dirty="0" err="1"/>
              <a:t>Untuk</a:t>
            </a:r>
            <a:r>
              <a:rPr lang="en-ID" sz="2400" dirty="0"/>
              <a:t> AI dan game, </a:t>
            </a:r>
            <a:r>
              <a:rPr lang="en-ID" sz="2400" dirty="0" err="1"/>
              <a:t>ada</a:t>
            </a:r>
            <a:r>
              <a:rPr lang="en-ID" sz="2400" dirty="0"/>
              <a:t> algoritma lain </a:t>
            </a:r>
            <a:r>
              <a:rPr lang="en-ID" sz="2400" dirty="0" err="1"/>
              <a:t>seperti</a:t>
            </a:r>
            <a:r>
              <a:rPr lang="en-ID" sz="2400" dirty="0"/>
              <a:t> Breadth-First Search (BFS) yang </a:t>
            </a:r>
            <a:r>
              <a:rPr lang="en-ID" sz="2400" dirty="0" err="1"/>
              <a:t>menjelajahi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melebar</a:t>
            </a:r>
            <a:r>
              <a:rPr lang="en-ID" sz="2400" dirty="0"/>
              <a:t>, dan Depth-First Search (DFS) yang </a:t>
            </a:r>
            <a:r>
              <a:rPr lang="en-ID" sz="2400" dirty="0" err="1"/>
              <a:t>menjelajahi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mendalam</a:t>
            </a:r>
            <a:r>
              <a:rPr lang="en-ID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2400" dirty="0"/>
          </a:p>
        </p:txBody>
      </p:sp>
      <p:pic>
        <p:nvPicPr>
          <p:cNvPr id="5" name="Picture 2" descr="Uninformed Search Algorithms">
            <a:hlinkClick r:id="rId2"/>
            <a:extLst>
              <a:ext uri="{FF2B5EF4-FFF2-40B4-BE49-F238E27FC236}">
                <a16:creationId xmlns:a16="http://schemas.microsoft.com/office/drawing/2014/main" id="{6CB89E70-3B67-2DE1-5F6B-D40793358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98" y="3547381"/>
            <a:ext cx="3730079" cy="29840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iagram of a diagram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4B8CEC04-16B3-1F80-BECC-34A71AD7C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86" y="448094"/>
            <a:ext cx="3578158" cy="28625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92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A6EC38-A7C0-EC2A-0461-AB764B91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477" y="886379"/>
            <a:ext cx="5280565" cy="864600"/>
          </a:xfrm>
        </p:spPr>
        <p:txBody>
          <a:bodyPr/>
          <a:lstStyle/>
          <a:p>
            <a:pPr algn="ctr"/>
            <a:r>
              <a:rPr lang="en-US" dirty="0"/>
              <a:t>Array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3724A-4173-55E2-EBB1-9A37368A2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18477" y="1848255"/>
            <a:ext cx="5280565" cy="4059931"/>
          </a:xfrm>
        </p:spPr>
        <p:txBody>
          <a:bodyPr/>
          <a:lstStyle/>
          <a:p>
            <a:r>
              <a:rPr lang="en-ID" dirty="0"/>
              <a:t>	Array 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Larik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tipe</a:t>
            </a:r>
            <a:r>
              <a:rPr lang="en-ID" dirty="0"/>
              <a:t> </a:t>
            </a:r>
            <a:r>
              <a:rPr lang="en-ID" dirty="0" err="1"/>
              <a:t>terstruktur</a:t>
            </a:r>
            <a:r>
              <a:rPr lang="en-ID" dirty="0"/>
              <a:t> </a:t>
            </a:r>
            <a:r>
              <a:rPr lang="en-ID" dirty="0" err="1"/>
              <a:t>dianalogikan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menampung</a:t>
            </a:r>
            <a:r>
              <a:rPr lang="en-ID" dirty="0"/>
              <a:t> data – data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tipe</a:t>
            </a:r>
            <a:r>
              <a:rPr lang="en-ID" dirty="0"/>
              <a:t> data yang </a:t>
            </a:r>
            <a:r>
              <a:rPr lang="en-ID" dirty="0" err="1"/>
              <a:t>sifatnya</a:t>
            </a:r>
            <a:r>
              <a:rPr lang="en-ID" dirty="0"/>
              <a:t> </a:t>
            </a:r>
            <a:r>
              <a:rPr lang="en-ID" dirty="0" err="1"/>
              <a:t>sejenis</a:t>
            </a:r>
            <a:r>
              <a:rPr lang="en-ID" dirty="0"/>
              <a:t>.</a:t>
            </a:r>
          </a:p>
          <a:p>
            <a:r>
              <a:rPr lang="en-ID" dirty="0"/>
              <a:t>	Item array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, yang 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index </a:t>
            </a:r>
            <a:r>
              <a:rPr lang="en-ID" dirty="0" err="1"/>
              <a:t>angka</a:t>
            </a:r>
            <a:r>
              <a:rPr lang="en-ID" dirty="0"/>
              <a:t>. Index </a:t>
            </a:r>
            <a:r>
              <a:rPr lang="en-ID" dirty="0" err="1"/>
              <a:t>pertama</a:t>
            </a:r>
            <a:r>
              <a:rPr lang="en-ID" dirty="0"/>
              <a:t> array </a:t>
            </a:r>
            <a:r>
              <a:rPr lang="en-ID" dirty="0" err="1"/>
              <a:t>adalah</a:t>
            </a:r>
            <a:r>
              <a:rPr lang="en-ID" dirty="0"/>
              <a:t> 0 dan index </a:t>
            </a:r>
            <a:r>
              <a:rPr lang="en-ID" dirty="0" err="1"/>
              <a:t>terakhir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–1.</a:t>
            </a:r>
          </a:p>
          <a:p>
            <a:endParaRPr lang="en-US" dirty="0"/>
          </a:p>
          <a:p>
            <a:r>
              <a:rPr lang="en-US" b="1" dirty="0" err="1"/>
              <a:t>Bentuk</a:t>
            </a:r>
            <a:r>
              <a:rPr lang="en-US" b="1" dirty="0"/>
              <a:t> </a:t>
            </a:r>
            <a:r>
              <a:rPr lang="en-US" b="1" dirty="0" err="1"/>
              <a:t>umum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array:</a:t>
            </a:r>
          </a:p>
          <a:p>
            <a:r>
              <a:rPr lang="en-US" dirty="0" err="1"/>
              <a:t>data_type</a:t>
            </a:r>
            <a:r>
              <a:rPr lang="en-US" dirty="0"/>
              <a:t> </a:t>
            </a:r>
            <a:r>
              <a:rPr lang="en-US" dirty="0" err="1"/>
              <a:t>array_name</a:t>
            </a:r>
            <a:r>
              <a:rPr lang="en-US" dirty="0"/>
              <a:t>[</a:t>
            </a:r>
            <a:r>
              <a:rPr lang="en-US" dirty="0" err="1"/>
              <a:t>array_size</a:t>
            </a:r>
            <a:r>
              <a:rPr lang="en-US" dirty="0"/>
              <a:t>];</a:t>
            </a:r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D3060-90A5-D464-B18D-9E88952C0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59" y="3745150"/>
            <a:ext cx="5118544" cy="23575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98" name="Picture 2" descr="Arrays in C++ - GeeksforGeeks">
            <a:extLst>
              <a:ext uri="{FF2B5EF4-FFF2-40B4-BE49-F238E27FC236}">
                <a16:creationId xmlns:a16="http://schemas.microsoft.com/office/drawing/2014/main" id="{335B3FB2-EB50-57BD-2CC9-2D622C410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59" y="1060315"/>
            <a:ext cx="5118544" cy="2052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19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299323-1BCC-9286-2944-296CCED0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 – Langkah Algoritma Linear Search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D1CB0-7AAA-A693-91EF-2067E0D72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18477" y="2104535"/>
            <a:ext cx="5280565" cy="3803651"/>
          </a:xfrm>
        </p:spPr>
        <p:txBody>
          <a:bodyPr>
            <a:normAutofit lnSpcReduction="10000"/>
          </a:bodyPr>
          <a:lstStyle/>
          <a:p>
            <a:r>
              <a:rPr lang="en-ID" dirty="0" err="1"/>
              <a:t>Pencarian</a:t>
            </a:r>
            <a:r>
              <a:rPr lang="en-ID" dirty="0"/>
              <a:t> Linear ( Array A, Nilai x) </a:t>
            </a:r>
          </a:p>
          <a:p>
            <a:r>
              <a:rPr lang="en-ID" b="1" dirty="0"/>
              <a:t>Langkah 1: </a:t>
            </a:r>
            <a:r>
              <a:rPr lang="en-ID" dirty="0"/>
              <a:t>Set </a:t>
            </a:r>
            <a:r>
              <a:rPr lang="en-ID" dirty="0" err="1"/>
              <a:t>i</a:t>
            </a:r>
            <a:r>
              <a:rPr lang="en-ID" dirty="0"/>
              <a:t> menjadi 1 </a:t>
            </a:r>
          </a:p>
          <a:p>
            <a:r>
              <a:rPr lang="en-ID" b="1" dirty="0"/>
              <a:t>Langkah 2: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i</a:t>
            </a:r>
            <a:r>
              <a:rPr lang="en-ID" dirty="0"/>
              <a:t> &gt; n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7 </a:t>
            </a:r>
          </a:p>
          <a:p>
            <a:r>
              <a:rPr lang="en-ID" b="1" dirty="0"/>
              <a:t>Langkah 3: </a:t>
            </a:r>
            <a:r>
              <a:rPr lang="en-ID" dirty="0" err="1"/>
              <a:t>jika</a:t>
            </a:r>
            <a:r>
              <a:rPr lang="en-ID" dirty="0"/>
              <a:t> A[</a:t>
            </a:r>
            <a:r>
              <a:rPr lang="en-ID" dirty="0" err="1"/>
              <a:t>i</a:t>
            </a:r>
            <a:r>
              <a:rPr lang="en-ID" dirty="0"/>
              <a:t>] = x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6 </a:t>
            </a:r>
          </a:p>
          <a:p>
            <a:r>
              <a:rPr lang="en-ID" b="1" dirty="0"/>
              <a:t>Langkah 4: </a:t>
            </a:r>
            <a:r>
              <a:rPr lang="en-ID" dirty="0"/>
              <a:t>Set </a:t>
            </a:r>
            <a:r>
              <a:rPr lang="en-ID" dirty="0" err="1"/>
              <a:t>i</a:t>
            </a:r>
            <a:r>
              <a:rPr lang="en-ID" dirty="0"/>
              <a:t> menjadi </a:t>
            </a:r>
            <a:r>
              <a:rPr lang="en-ID" dirty="0" err="1"/>
              <a:t>i</a:t>
            </a:r>
            <a:r>
              <a:rPr lang="en-ID" dirty="0"/>
              <a:t> + 1 </a:t>
            </a:r>
          </a:p>
          <a:p>
            <a:r>
              <a:rPr lang="en-ID" b="1" dirty="0"/>
              <a:t>Langkah 5: </a:t>
            </a:r>
            <a:r>
              <a:rPr lang="en-ID" dirty="0"/>
              <a:t>Kembali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2 </a:t>
            </a:r>
          </a:p>
          <a:p>
            <a:r>
              <a:rPr lang="en-ID" b="1" dirty="0"/>
              <a:t>Langkah 6: </a:t>
            </a:r>
            <a:r>
              <a:rPr lang="en-ID" dirty="0" err="1"/>
              <a:t>Cetak</a:t>
            </a:r>
            <a:r>
              <a:rPr lang="en-ID" dirty="0"/>
              <a:t> “Element X </a:t>
            </a:r>
            <a:r>
              <a:rPr lang="en-ID" dirty="0" err="1"/>
              <a:t>ada</a:t>
            </a:r>
            <a:r>
              <a:rPr lang="en-ID" dirty="0"/>
              <a:t> di index </a:t>
            </a:r>
            <a:r>
              <a:rPr lang="en-ID" dirty="0" err="1"/>
              <a:t>i</a:t>
            </a:r>
            <a:r>
              <a:rPr lang="en-ID" dirty="0"/>
              <a:t>” dan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8 </a:t>
            </a:r>
          </a:p>
          <a:p>
            <a:r>
              <a:rPr lang="en-ID" b="1" dirty="0"/>
              <a:t>Langkah 7: </a:t>
            </a:r>
            <a:r>
              <a:rPr lang="en-ID" dirty="0" err="1"/>
              <a:t>Cetak</a:t>
            </a:r>
            <a:r>
              <a:rPr lang="en-ID" dirty="0"/>
              <a:t> “Element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ditemukan</a:t>
            </a:r>
            <a:r>
              <a:rPr lang="en-ID" dirty="0"/>
              <a:t>” </a:t>
            </a:r>
          </a:p>
          <a:p>
            <a:r>
              <a:rPr lang="en-ID" b="1" dirty="0"/>
              <a:t>Langkah 8: </a:t>
            </a:r>
            <a:r>
              <a:rPr lang="en-ID" dirty="0" err="1"/>
              <a:t>Selesai</a:t>
            </a:r>
            <a:r>
              <a:rPr lang="en-ID" dirty="0"/>
              <a:t> </a:t>
            </a:r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5A14-54DD-A697-593E-EF2402D2A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32" y="2104535"/>
            <a:ext cx="5192846" cy="257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5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815A-8835-6526-EBDC-3CA791B7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Pseudocode Linear Search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FAC7F-0540-2218-72DB-610A9A2A1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440"/>
            <a:ext cx="4453647" cy="52248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#include &lt;iostream&gt;</a:t>
            </a:r>
          </a:p>
          <a:p>
            <a:pPr marL="0" indent="0">
              <a:buNone/>
            </a:pPr>
            <a:r>
              <a:rPr lang="en-US" sz="2000" dirty="0"/>
              <a:t>#include &lt;</a:t>
            </a:r>
            <a:r>
              <a:rPr lang="en-US" sz="2000" dirty="0" err="1"/>
              <a:t>conio.h</a:t>
            </a:r>
            <a:r>
              <a:rPr lang="en-US" sz="2000" dirty="0"/>
              <a:t>&gt;</a:t>
            </a:r>
          </a:p>
          <a:p>
            <a:pPr marL="0" indent="0">
              <a:buNone/>
            </a:pPr>
            <a:r>
              <a:rPr lang="en-US" sz="2000" dirty="0"/>
              <a:t>using namespace std;</a:t>
            </a:r>
          </a:p>
          <a:p>
            <a:pPr marL="0" indent="0">
              <a:buNone/>
            </a:pPr>
            <a:r>
              <a:rPr lang="en-US" sz="2000" dirty="0"/>
              <a:t>int main(){</a:t>
            </a:r>
          </a:p>
          <a:p>
            <a:pPr marL="0" indent="0">
              <a:buNone/>
            </a:pPr>
            <a:r>
              <a:rPr lang="en-US" sz="2000" dirty="0"/>
              <a:t>    int num[]= {12,9,37,86,2,17,5};</a:t>
            </a:r>
          </a:p>
          <a:p>
            <a:pPr marL="0" indent="0">
              <a:buNone/>
            </a:pPr>
            <a:r>
              <a:rPr lang="en-US" sz="2000" dirty="0"/>
              <a:t>    int </a:t>
            </a:r>
            <a:r>
              <a:rPr lang="en-US" sz="2000" dirty="0" err="1"/>
              <a:t>i,x,f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cout</a:t>
            </a:r>
            <a:r>
              <a:rPr lang="en-US" sz="2000" dirty="0"/>
              <a:t>&lt;&lt;"Array: ";</a:t>
            </a:r>
          </a:p>
          <a:p>
            <a:pPr marL="0" indent="0">
              <a:buNone/>
            </a:pPr>
            <a:r>
              <a:rPr lang="en-US" sz="2000" dirty="0"/>
              <a:t>    for(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&lt;7; </a:t>
            </a:r>
            <a:r>
              <a:rPr lang="en-US" sz="2000" dirty="0" err="1"/>
              <a:t>i</a:t>
            </a:r>
            <a:r>
              <a:rPr lang="en-US" sz="2000" dirty="0"/>
              <a:t>++){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&lt;&lt;num[</a:t>
            </a:r>
            <a:r>
              <a:rPr lang="en-US" sz="2000" dirty="0" err="1"/>
              <a:t>i</a:t>
            </a:r>
            <a:r>
              <a:rPr lang="en-US" sz="2000" dirty="0"/>
              <a:t>]&lt;&lt;" ";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cout</a:t>
            </a:r>
            <a:r>
              <a:rPr lang="en-US" sz="2000" dirty="0"/>
              <a:t>&lt;&lt;"\n\</a:t>
            </a:r>
            <a:r>
              <a:rPr lang="en-US" sz="2000" dirty="0" err="1"/>
              <a:t>nEnter</a:t>
            </a:r>
            <a:r>
              <a:rPr lang="en-US" sz="2000" dirty="0"/>
              <a:t> number to search ";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cin</a:t>
            </a:r>
            <a:r>
              <a:rPr lang="en-US" sz="2000" dirty="0"/>
              <a:t>&gt;&gt;x;</a:t>
            </a:r>
          </a:p>
          <a:p>
            <a:pPr marL="0" indent="0">
              <a:buNone/>
            </a:pPr>
            <a:endParaRPr lang="en-ID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FF522A-ACE5-42CA-3941-B6131D9D469B}"/>
              </a:ext>
            </a:extLst>
          </p:cNvPr>
          <p:cNvSpPr txBox="1">
            <a:spLocks/>
          </p:cNvSpPr>
          <p:nvPr/>
        </p:nvSpPr>
        <p:spPr>
          <a:xfrm>
            <a:off x="6225701" y="1409441"/>
            <a:ext cx="4991911" cy="52248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514350" indent="-51435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sz="2000" dirty="0"/>
              <a:t>     f=0;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     for(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&lt;7; </a:t>
            </a:r>
            <a:r>
              <a:rPr lang="en-US" sz="2000" dirty="0" err="1"/>
              <a:t>i</a:t>
            </a:r>
            <a:r>
              <a:rPr lang="en-US" sz="2000" dirty="0"/>
              <a:t>++){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          if(x==num[</a:t>
            </a:r>
            <a:r>
              <a:rPr lang="en-US" sz="2000" dirty="0" err="1"/>
              <a:t>i</a:t>
            </a:r>
            <a:r>
              <a:rPr lang="en-US" sz="2000" dirty="0"/>
              <a:t>]){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cout</a:t>
            </a:r>
            <a:r>
              <a:rPr lang="en-US" sz="2000" dirty="0"/>
              <a:t>&lt;&lt;"Number found at index "&lt;&lt;</a:t>
            </a:r>
            <a:r>
              <a:rPr lang="en-US" sz="2000" dirty="0" err="1"/>
              <a:t>i</a:t>
            </a:r>
            <a:r>
              <a:rPr lang="en-US" sz="2000" dirty="0"/>
              <a:t>;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            f=1;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            break;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          }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     }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    if(f==0){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&lt;&lt;"Number not found";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    }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    return 0;</a:t>
            </a:r>
          </a:p>
          <a:p>
            <a:pPr marL="0" indent="0">
              <a:buFont typeface="+mj-lt"/>
              <a:buNone/>
            </a:pPr>
            <a:r>
              <a:rPr lang="en-US" sz="2000" dirty="0"/>
              <a:t>}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38552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6330"/>
            <a:ext cx="10515600" cy="81153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+mj-lt"/>
              </a:rPr>
              <a:t>Any Question</a:t>
            </a:r>
          </a:p>
        </p:txBody>
      </p:sp>
      <p:pic>
        <p:nvPicPr>
          <p:cNvPr id="9" name="Picture 8" descr="A group of colorful bubbles with question marks&#10;&#10;Description automatically generated">
            <a:extLst>
              <a:ext uri="{FF2B5EF4-FFF2-40B4-BE49-F238E27FC236}">
                <a16:creationId xmlns:a16="http://schemas.microsoft.com/office/drawing/2014/main" id="{D0AF8578-230F-23BC-7BFF-398FFA9AF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323" y="1719182"/>
            <a:ext cx="4603353" cy="460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8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Kasih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Tambah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20260801113 – </a:t>
            </a:r>
            <a:r>
              <a:rPr lang="en-US" dirty="0" err="1" smtClean="0"/>
              <a:t>Cheryne</a:t>
            </a:r>
            <a:r>
              <a:rPr lang="en-US" dirty="0" smtClean="0"/>
              <a:t> </a:t>
            </a:r>
            <a:r>
              <a:rPr lang="en-US" dirty="0" err="1" smtClean="0"/>
              <a:t>Noorfalliha</a:t>
            </a:r>
            <a:r>
              <a:rPr lang="en-US" dirty="0" smtClean="0"/>
              <a:t> </a:t>
            </a:r>
            <a:r>
              <a:rPr lang="en-US" dirty="0" err="1" smtClean="0"/>
              <a:t>Putri</a:t>
            </a:r>
            <a:endParaRPr lang="en-US" dirty="0" smtClean="0"/>
          </a:p>
          <a:p>
            <a:r>
              <a:rPr lang="en-US" dirty="0" smtClean="0"/>
              <a:t>20260801159 – </a:t>
            </a:r>
            <a:r>
              <a:rPr lang="en-US" dirty="0" err="1" smtClean="0"/>
              <a:t>Reffy</a:t>
            </a:r>
            <a:r>
              <a:rPr lang="en-US" dirty="0" smtClean="0"/>
              <a:t> </a:t>
            </a:r>
            <a:r>
              <a:rPr lang="en-US" dirty="0" err="1" smtClean="0"/>
              <a:t>Yudhistira</a:t>
            </a:r>
            <a:endParaRPr lang="en-US" dirty="0" smtClean="0"/>
          </a:p>
          <a:p>
            <a:r>
              <a:rPr lang="en-US" dirty="0" smtClean="0"/>
              <a:t>20260803085 – Muhammad Rafi </a:t>
            </a:r>
            <a:r>
              <a:rPr lang="en-US" dirty="0" err="1" smtClean="0"/>
              <a:t>Sugiarto</a:t>
            </a:r>
            <a:endParaRPr lang="en-US" dirty="0" smtClean="0"/>
          </a:p>
          <a:p>
            <a:r>
              <a:rPr lang="en-US" dirty="0" smtClean="0"/>
              <a:t>20260801024-abdul </a:t>
            </a:r>
            <a:r>
              <a:rPr lang="en-US" dirty="0" err="1" smtClean="0"/>
              <a:t>faathir</a:t>
            </a:r>
            <a:r>
              <a:rPr lang="en-US" dirty="0" smtClean="0"/>
              <a:t> </a:t>
            </a:r>
            <a:r>
              <a:rPr lang="en-US" dirty="0" err="1" smtClean="0"/>
              <a:t>maulana</a:t>
            </a:r>
            <a:r>
              <a:rPr lang="en-US" dirty="0" smtClean="0"/>
              <a:t> </a:t>
            </a:r>
            <a:r>
              <a:rPr lang="en-US" dirty="0" err="1" smtClean="0"/>
              <a:t>akbar</a:t>
            </a:r>
            <a:endParaRPr lang="en-US" dirty="0" smtClean="0"/>
          </a:p>
          <a:p>
            <a:r>
              <a:rPr lang="en-US" dirty="0" smtClean="0"/>
              <a:t>20260801047 – </a:t>
            </a:r>
            <a:r>
              <a:rPr lang="en-US" dirty="0" err="1" smtClean="0"/>
              <a:t>Reynaldi</a:t>
            </a:r>
            <a:r>
              <a:rPr lang="en-US" dirty="0" smtClean="0"/>
              <a:t> Julian</a:t>
            </a:r>
          </a:p>
          <a:p>
            <a:r>
              <a:rPr lang="en-US" dirty="0" smtClean="0"/>
              <a:t>20260801055 – </a:t>
            </a:r>
            <a:r>
              <a:rPr lang="en-US" dirty="0" err="1" smtClean="0"/>
              <a:t>Natanael</a:t>
            </a:r>
            <a:r>
              <a:rPr lang="en-US" dirty="0" smtClean="0"/>
              <a:t> </a:t>
            </a:r>
            <a:r>
              <a:rPr lang="en-US" dirty="0" err="1" smtClean="0"/>
              <a:t>Anggia</a:t>
            </a:r>
            <a:r>
              <a:rPr lang="en-US" dirty="0" smtClean="0"/>
              <a:t> P.S</a:t>
            </a:r>
          </a:p>
          <a:p>
            <a:r>
              <a:rPr lang="en-US" dirty="0" smtClean="0"/>
              <a:t>20260801103 – </a:t>
            </a:r>
            <a:r>
              <a:rPr lang="en-US" dirty="0" err="1" smtClean="0"/>
              <a:t>Ilham</a:t>
            </a:r>
            <a:r>
              <a:rPr lang="en-US" dirty="0" smtClean="0"/>
              <a:t> </a:t>
            </a:r>
            <a:r>
              <a:rPr lang="en-US" dirty="0" err="1" smtClean="0"/>
              <a:t>bahtian</a:t>
            </a:r>
            <a:r>
              <a:rPr lang="en-US" dirty="0" smtClean="0"/>
              <a:t> </a:t>
            </a:r>
            <a:r>
              <a:rPr lang="en-US" dirty="0" err="1" smtClean="0"/>
              <a:t>Nur</a:t>
            </a:r>
            <a:r>
              <a:rPr lang="en-US" dirty="0" smtClean="0"/>
              <a:t> </a:t>
            </a:r>
            <a:r>
              <a:rPr lang="en-US" dirty="0" err="1" smtClean="0"/>
              <a:t>aziz</a:t>
            </a:r>
            <a:endParaRPr lang="en-US" dirty="0" smtClean="0"/>
          </a:p>
          <a:p>
            <a:r>
              <a:rPr lang="en-US" dirty="0" smtClean="0"/>
              <a:t>20260801161 – </a:t>
            </a:r>
            <a:r>
              <a:rPr lang="en-US" dirty="0" err="1" smtClean="0"/>
              <a:t>Kadek</a:t>
            </a:r>
            <a:r>
              <a:rPr lang="en-US" dirty="0"/>
              <a:t> </a:t>
            </a:r>
            <a:r>
              <a:rPr lang="en-US" dirty="0" err="1" smtClean="0"/>
              <a:t>Cantika</a:t>
            </a:r>
            <a:r>
              <a:rPr lang="en-US" dirty="0" smtClean="0"/>
              <a:t> </a:t>
            </a:r>
            <a:r>
              <a:rPr lang="en-US" dirty="0" err="1" smtClean="0"/>
              <a:t>Andarania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85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UEU Color">
      <a:dk1>
        <a:srgbClr val="0E60AC"/>
      </a:dk1>
      <a:lt1>
        <a:sysClr val="window" lastClr="FFFFFF"/>
      </a:lt1>
      <a:dk2>
        <a:srgbClr val="0E60AC"/>
      </a:dk2>
      <a:lt2>
        <a:srgbClr val="FFFFFF"/>
      </a:lt2>
      <a:accent1>
        <a:srgbClr val="0B4E8B"/>
      </a:accent1>
      <a:accent2>
        <a:srgbClr val="EF7220"/>
      </a:accent2>
      <a:accent3>
        <a:srgbClr val="0F68B9"/>
      </a:accent3>
      <a:accent4>
        <a:srgbClr val="DA6210"/>
      </a:accent4>
      <a:accent5>
        <a:srgbClr val="D8D8D8"/>
      </a:accent5>
      <a:accent6>
        <a:srgbClr val="0B4E8B"/>
      </a:accent6>
      <a:hlink>
        <a:srgbClr val="DA6210"/>
      </a:hlink>
      <a:folHlink>
        <a:srgbClr val="EF7220"/>
      </a:folHlink>
    </a:clrScheme>
    <a:fontScheme name="Font UEU Basic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 PPT (Sudah Transform)" id="{4A1D9D93-713F-459F-BBFB-1DE982FF7424}" vid="{69288B8F-0A48-4C79-93C3-AC0192282F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 PPT (Sudah Transform)</Template>
  <TotalTime>960</TotalTime>
  <Words>722</Words>
  <Application>Microsoft Office PowerPoint</Application>
  <PresentationFormat>Widescreen</PresentationFormat>
  <Paragraphs>111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Tw Cen MT</vt:lpstr>
      <vt:lpstr>Office Theme</vt:lpstr>
      <vt:lpstr>Algoritma dan Pemrograman</vt:lpstr>
      <vt:lpstr>PowerPoint Presentation</vt:lpstr>
      <vt:lpstr>PowerPoint Presentation</vt:lpstr>
      <vt:lpstr>PowerPoint Presentation</vt:lpstr>
      <vt:lpstr>PowerPoint Presentation</vt:lpstr>
      <vt:lpstr>Referensi</vt:lpstr>
      <vt:lpstr>Penilaian</vt:lpstr>
      <vt:lpstr>WHAT IS Searching Algorithm.?</vt:lpstr>
      <vt:lpstr>Apa itu Algoritma Pencarian?</vt:lpstr>
      <vt:lpstr>Bagaimana Algoritma Pencarian Bekerja?</vt:lpstr>
      <vt:lpstr>Jenis-jenis Algoritma Searching</vt:lpstr>
      <vt:lpstr>1. Pencarian Linier (Sequential Search)  </vt:lpstr>
      <vt:lpstr>2. Pencarian Biner (Binary Search)</vt:lpstr>
      <vt:lpstr>3. Pencarian Interpolasi (Interpolation Search)</vt:lpstr>
      <vt:lpstr>PowerPoint Presentation</vt:lpstr>
      <vt:lpstr>Array</vt:lpstr>
      <vt:lpstr>Langkah – Langkah Algoritma Linear Search</vt:lpstr>
      <vt:lpstr>Pseudocode Linear Search</vt:lpstr>
      <vt:lpstr>Any Question</vt:lpstr>
      <vt:lpstr>Terima Kasih</vt:lpstr>
      <vt:lpstr>Nilai Tambah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KECERDASAN ARTIFISIAL</dc:title>
  <dc:creator>Jessica Christianna</dc:creator>
  <cp:lastModifiedBy>MAHASISWA</cp:lastModifiedBy>
  <cp:revision>71</cp:revision>
  <dcterms:created xsi:type="dcterms:W3CDTF">2023-08-22T04:41:51Z</dcterms:created>
  <dcterms:modified xsi:type="dcterms:W3CDTF">2026-10-08T01:41:36Z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2023-08-22T04:50:37Z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cdf0f113-eac9-4316-8cb9-e23830181d37</vt:lpwstr>
  </property>
  <property fmtid="{D5CDD505-2E9C-101B-9397-08002B2CF9AE}" pid="7" name="MSIP_Label_defa4170-0d19-0005-0004-bc88714345d2_ActionId">
    <vt:lpwstr>b6fc0939-d182-4b3d-88d3-9d196aab1410</vt:lpwstr>
  </property>
  <property fmtid="{D5CDD505-2E9C-101B-9397-08002B2CF9AE}" pid="8" name="MSIP_Label_defa4170-0d19-0005-0004-bc88714345d2_ContentBits">
    <vt:lpwstr>0</vt:lpwstr>
  </property>
</Properties>
</file>