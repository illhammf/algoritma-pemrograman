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6" r:id="rId2"/>
    <p:sldId id="287" r:id="rId3"/>
    <p:sldId id="288" r:id="rId4"/>
    <p:sldId id="289" r:id="rId5"/>
    <p:sldId id="260" r:id="rId6"/>
    <p:sldId id="309" r:id="rId7"/>
    <p:sldId id="310" r:id="rId8"/>
    <p:sldId id="291" r:id="rId9"/>
    <p:sldId id="292" r:id="rId10"/>
    <p:sldId id="296" r:id="rId11"/>
    <p:sldId id="304" r:id="rId12"/>
    <p:sldId id="313" r:id="rId13"/>
    <p:sldId id="314" r:id="rId14"/>
    <p:sldId id="305" r:id="rId15"/>
    <p:sldId id="306" r:id="rId16"/>
    <p:sldId id="315" r:id="rId17"/>
    <p:sldId id="319" r:id="rId18"/>
    <p:sldId id="316" r:id="rId19"/>
    <p:sldId id="317" r:id="rId20"/>
    <p:sldId id="318" r:id="rId21"/>
    <p:sldId id="320" r:id="rId22"/>
    <p:sldId id="297" r:id="rId23"/>
    <p:sldId id="267" r:id="rId24"/>
    <p:sldId id="311" r:id="rId25"/>
    <p:sldId id="31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C7C30"/>
    <a:srgbClr val="0E60AC"/>
    <a:srgbClr val="EB7020"/>
    <a:srgbClr val="FBE6E1"/>
    <a:srgbClr val="FCEDEA"/>
    <a:srgbClr val="D8EBFC"/>
    <a:srgbClr val="F2F2F2"/>
    <a:srgbClr val="DA6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1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A72C7-EFFE-4E88-AD56-53EE1F7B8694}" type="datetimeFigureOut">
              <a:rPr lang="en-ID" smtClean="0"/>
              <a:t>17/09/2026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45EBC-2005-4F04-AD12-C25E989DEE4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8092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45EBC-2005-4F04-AD12-C25E989DEE4E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936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814192"/>
            <a:ext cx="4509370" cy="523587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itle 15"/>
          <p:cNvSpPr>
            <a:spLocks noGrp="1"/>
          </p:cNvSpPr>
          <p:nvPr>
            <p:ph type="title" hasCustomPrompt="1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rgbClr val="0E60AC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4968465" y="403445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9" name="Rounded Rectangle 18"/>
          <p:cNvSpPr/>
          <p:nvPr userDrawn="1"/>
        </p:nvSpPr>
        <p:spPr>
          <a:xfrm>
            <a:off x="4968465" y="3811581"/>
            <a:ext cx="1659545" cy="45719"/>
          </a:xfrm>
          <a:prstGeom prst="roundRect">
            <a:avLst/>
          </a:prstGeom>
          <a:solidFill>
            <a:srgbClr val="EC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4968464" y="110526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9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4" name="Rounded Rectangle 3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  <p:sp>
        <p:nvSpPr>
          <p:cNvPr id="12" name="Title 15"/>
          <p:cNvSpPr>
            <a:spLocks noGrp="1"/>
          </p:cNvSpPr>
          <p:nvPr>
            <p:ph type="title" hasCustomPrompt="1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588970" y="419808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7" name="Rounded Rectangle 16"/>
          <p:cNvSpPr/>
          <p:nvPr userDrawn="1"/>
        </p:nvSpPr>
        <p:spPr>
          <a:xfrm>
            <a:off x="588970" y="3975211"/>
            <a:ext cx="165954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588969" y="126889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47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en Pengamp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aseline="0"/>
            </a:lvl1pPr>
          </a:lstStyle>
          <a:p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154979" y="2275496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Nama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Gelar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5164108" y="1988095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Dosen</a:t>
            </a:r>
            <a:r>
              <a:rPr lang="en-US" sz="2000" dirty="0"/>
              <a:t> </a:t>
            </a:r>
            <a:r>
              <a:rPr lang="en-US" sz="2000" dirty="0" err="1"/>
              <a:t>Koordinator</a:t>
            </a:r>
            <a:r>
              <a:rPr lang="en-US" sz="2000" dirty="0"/>
              <a:t>: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54979" y="3176643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NID</a:t>
            </a:r>
          </a:p>
        </p:txBody>
      </p:sp>
      <p:sp>
        <p:nvSpPr>
          <p:cNvPr id="16" name="Title 1"/>
          <p:cNvSpPr txBox="1">
            <a:spLocks/>
          </p:cNvSpPr>
          <p:nvPr userDrawn="1"/>
        </p:nvSpPr>
        <p:spPr>
          <a:xfrm>
            <a:off x="5164108" y="2889242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NID: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54979" y="4077790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E-mail</a:t>
            </a:r>
          </a:p>
        </p:txBody>
      </p:sp>
      <p:sp>
        <p:nvSpPr>
          <p:cNvPr id="18" name="Title 1"/>
          <p:cNvSpPr txBox="1">
            <a:spLocks/>
          </p:cNvSpPr>
          <p:nvPr userDrawn="1"/>
        </p:nvSpPr>
        <p:spPr>
          <a:xfrm>
            <a:off x="5164108" y="3790389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E-mail:</a:t>
            </a:r>
          </a:p>
        </p:txBody>
      </p:sp>
    </p:spTree>
    <p:extLst>
      <p:ext uri="{BB962C8B-B14F-4D97-AF65-F5344CB8AC3E}">
        <p14:creationId xmlns:p14="http://schemas.microsoft.com/office/powerpoint/2010/main" val="43242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k (Sebelum U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882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Tengah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1756" y="804529"/>
            <a:ext cx="38248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Topik</a:t>
            </a:r>
            <a:r>
              <a:rPr lang="en-US" sz="3600" b="1" dirty="0"/>
              <a:t> </a:t>
            </a:r>
            <a:r>
              <a:rPr lang="en-US" sz="3600" b="1" dirty="0" err="1"/>
              <a:t>Sebelum</a:t>
            </a:r>
            <a:r>
              <a:rPr lang="en-US" sz="3600" b="1" dirty="0"/>
              <a:t> UTS</a:t>
            </a:r>
          </a:p>
        </p:txBody>
      </p:sp>
    </p:spTree>
    <p:extLst>
      <p:ext uri="{BB962C8B-B14F-4D97-AF65-F5344CB8AC3E}">
        <p14:creationId xmlns:p14="http://schemas.microsoft.com/office/powerpoint/2010/main" val="772457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k (Sebelum U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6466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Akhir</a:t>
            </a:r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571756" y="804529"/>
            <a:ext cx="39118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Topik</a:t>
            </a:r>
            <a:r>
              <a:rPr lang="en-US" sz="3600" b="1" dirty="0"/>
              <a:t> </a:t>
            </a:r>
            <a:r>
              <a:rPr lang="en-US" sz="3600" b="1" dirty="0" err="1"/>
              <a:t>Sebelum</a:t>
            </a:r>
            <a:r>
              <a:rPr lang="en-US" sz="3600" b="1" dirty="0"/>
              <a:t> UAS</a:t>
            </a:r>
          </a:p>
        </p:txBody>
      </p:sp>
    </p:spTree>
    <p:extLst>
      <p:ext uri="{BB962C8B-B14F-4D97-AF65-F5344CB8AC3E}">
        <p14:creationId xmlns:p14="http://schemas.microsoft.com/office/powerpoint/2010/main" val="389121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ndahulu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327352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Pendahuluan</a:t>
            </a:r>
            <a:endParaRPr lang="en-US" sz="4400" b="1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77" y="544975"/>
            <a:ext cx="665176" cy="76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90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juan Pembelajar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4" y="716437"/>
            <a:ext cx="5910035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5537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Capaian</a:t>
            </a:r>
            <a:r>
              <a:rPr lang="en-US" sz="4400" b="1" dirty="0"/>
              <a:t> </a:t>
            </a:r>
            <a:r>
              <a:rPr lang="en-US" sz="4400" b="1" dirty="0" err="1"/>
              <a:t>Pembelajaran</a:t>
            </a:r>
            <a:endParaRPr lang="en-US" sz="4400" b="1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75" y="649446"/>
            <a:ext cx="791900" cy="63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6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mponen Penila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506876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Komponen</a:t>
            </a:r>
            <a:r>
              <a:rPr lang="en-US" sz="4400" b="1" dirty="0"/>
              <a:t> </a:t>
            </a:r>
            <a:r>
              <a:rPr lang="en-US" sz="4400" b="1" dirty="0" err="1"/>
              <a:t>Penilaian</a:t>
            </a:r>
            <a:endParaRPr lang="en-US" sz="4400" b="1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12" y="616587"/>
            <a:ext cx="589305" cy="675421"/>
          </a:xfrm>
          <a:prstGeom prst="rect">
            <a:avLst/>
          </a:prstGeom>
        </p:spPr>
      </p:pic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3774122" y="1943100"/>
            <a:ext cx="4836478" cy="32283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6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824826"/>
            <a:ext cx="9144000" cy="176884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err="1"/>
              <a:t>Judul</a:t>
            </a:r>
            <a:r>
              <a:rPr lang="en-US" dirty="0"/>
              <a:t> 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524000" y="2843408"/>
            <a:ext cx="9144000" cy="3376417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27261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24603" y="2217851"/>
            <a:ext cx="5529197" cy="1920647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 err="1"/>
              <a:t>Judul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499621"/>
            <a:ext cx="5316718" cy="585673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57535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89699"/>
            <a:ext cx="10515600" cy="1617924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18534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latin typeface="Tw Cen MT" panose="020B06020201040206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41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49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72239"/>
            <a:ext cx="5157787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72239"/>
            <a:ext cx="5183188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28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0120"/>
            <a:ext cx="10515600" cy="193167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7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105706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21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107481"/>
            <a:ext cx="5900448" cy="48007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02081" y="886379"/>
            <a:ext cx="3751066" cy="1218156"/>
          </a:xfrm>
        </p:spPr>
        <p:txBody>
          <a:bodyPr anchor="b"/>
          <a:lstStyle>
            <a:lvl1pPr>
              <a:defRPr sz="3200">
                <a:solidFill>
                  <a:srgbClr val="FFC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02081" y="2264241"/>
            <a:ext cx="3751066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99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061967" y="466091"/>
            <a:ext cx="4066216" cy="284304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5825" y="526915"/>
            <a:ext cx="3918815" cy="27105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817139" y="867524"/>
            <a:ext cx="4740881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7139" y="2245386"/>
            <a:ext cx="4740881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1061967" y="3560439"/>
            <a:ext cx="4066216" cy="284304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1135825" y="3621263"/>
            <a:ext cx="3918815" cy="27105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1813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9929" y="886379"/>
            <a:ext cx="4888191" cy="502180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918477" y="886379"/>
            <a:ext cx="5280565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7" y="2264241"/>
            <a:ext cx="5280565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395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Uraian Mat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0080"/>
            <a:ext cx="10515600" cy="9846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759637"/>
            <a:ext cx="10515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7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70701" y="1491242"/>
            <a:ext cx="3356431" cy="340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70701" y="605658"/>
            <a:ext cx="10851171" cy="701457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518071" y="1491242"/>
            <a:ext cx="3356431" cy="3405612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265441" y="1491242"/>
            <a:ext cx="3356431" cy="3405612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70700" y="5080981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4518071" y="5080981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8265441" y="5080981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350358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30198" y="688159"/>
            <a:ext cx="8495847" cy="39094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30197" y="4751111"/>
            <a:ext cx="8495850" cy="1451728"/>
          </a:xfrm>
        </p:spPr>
        <p:txBody>
          <a:bodyPr>
            <a:normAutofit/>
          </a:bodyPr>
          <a:lstStyle>
            <a:lvl1pPr marL="0" indent="0" algn="just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2575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76887" y="404617"/>
            <a:ext cx="9184670" cy="701457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Media Placeholder 3"/>
          <p:cNvSpPr>
            <a:spLocks noGrp="1"/>
          </p:cNvSpPr>
          <p:nvPr>
            <p:ph type="media" sz="quarter" idx="13" hasCustomPrompt="1"/>
          </p:nvPr>
        </p:nvSpPr>
        <p:spPr>
          <a:xfrm>
            <a:off x="1576887" y="1319017"/>
            <a:ext cx="9184670" cy="5166377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Insert Video</a:t>
            </a:r>
          </a:p>
        </p:txBody>
      </p:sp>
    </p:spTree>
    <p:extLst>
      <p:ext uri="{BB962C8B-B14F-4D97-AF65-F5344CB8AC3E}">
        <p14:creationId xmlns:p14="http://schemas.microsoft.com/office/powerpoint/2010/main" val="383617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93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tih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19239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Latihan</a:t>
            </a:r>
            <a:endParaRPr lang="en-US" sz="4400" b="1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19" y="581911"/>
            <a:ext cx="650450" cy="74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3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ftar Pusta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364074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Daftar</a:t>
            </a:r>
            <a:r>
              <a:rPr lang="en-US" sz="4400" b="1" dirty="0"/>
              <a:t> </a:t>
            </a:r>
            <a:r>
              <a:rPr lang="en-US" sz="4400" b="1" dirty="0" err="1"/>
              <a:t>Pustaka</a:t>
            </a:r>
            <a:endParaRPr lang="en-US" sz="4400" b="1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7" y="661014"/>
            <a:ext cx="606720" cy="6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4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nu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siness people  clapping their hands at the meeting Premium Photo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530"/>
          <a:stretch/>
        </p:blipFill>
        <p:spPr bwMode="auto">
          <a:xfrm>
            <a:off x="2790216" y="-5350"/>
            <a:ext cx="9401784" cy="686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 userDrawn="1"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2333732" y="2541902"/>
            <a:ext cx="3048000" cy="1768845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Terima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Kasih</a:t>
            </a:r>
            <a:r>
              <a:rPr lang="en-US" dirty="0"/>
              <a:t>.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9" name="Rounded Rectangle 8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987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70264"/>
            <a:ext cx="12110720" cy="140073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10071739" y="152987"/>
            <a:ext cx="1971606" cy="729735"/>
            <a:chOff x="648649" y="653143"/>
            <a:chExt cx="2138362" cy="791455"/>
          </a:xfrm>
        </p:grpSpPr>
        <p:sp>
          <p:nvSpPr>
            <p:cNvPr id="10" name="Rounded Rectangle 9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 rotWithShape="1"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888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0" r:id="rId2"/>
    <p:sldLayoutId id="2147483664" r:id="rId3"/>
    <p:sldLayoutId id="2147483676" r:id="rId4"/>
    <p:sldLayoutId id="2147483677" r:id="rId5"/>
    <p:sldLayoutId id="2147483674" r:id="rId6"/>
    <p:sldLayoutId id="2147483671" r:id="rId7"/>
    <p:sldLayoutId id="2147483675" r:id="rId8"/>
    <p:sldLayoutId id="2147483649" r:id="rId9"/>
    <p:sldLayoutId id="2147483665" r:id="rId10"/>
    <p:sldLayoutId id="2147483651" r:id="rId11"/>
    <p:sldLayoutId id="2147483652" r:id="rId12"/>
    <p:sldLayoutId id="2147483653" r:id="rId13"/>
    <p:sldLayoutId id="2147483654" r:id="rId14"/>
    <p:sldLayoutId id="2147483650" r:id="rId15"/>
    <p:sldLayoutId id="2147483657" r:id="rId16"/>
    <p:sldLayoutId id="2147483668" r:id="rId17"/>
    <p:sldLayoutId id="2147483678" r:id="rId18"/>
    <p:sldLayoutId id="2147483681" r:id="rId19"/>
    <p:sldLayoutId id="2147483666" r:id="rId20"/>
    <p:sldLayoutId id="2147483669" r:id="rId21"/>
    <p:sldLayoutId id="2147483667" r:id="rId22"/>
    <p:sldLayoutId id="2147483655" r:id="rId23"/>
    <p:sldLayoutId id="2147483672" r:id="rId24"/>
    <p:sldLayoutId id="2147483673" r:id="rId25"/>
    <p:sldLayoutId id="2147483663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E60AC"/>
          </a:solidFill>
          <a:latin typeface="Tw Cen MT" panose="020B0602020104020603" pitchFamily="34" charset="0"/>
          <a:ea typeface="+mj-ea"/>
          <a:cs typeface="+mj-cs"/>
        </a:defRPr>
      </a:lvl1pPr>
    </p:titleStyle>
    <p:bodyStyle>
      <a:lvl1pPr marL="514350" indent="-514350" algn="just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1pPr>
      <a:lvl2pPr marL="914400" indent="-457200" algn="just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lphaL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Algoritma dan </a:t>
            </a:r>
            <a:r>
              <a:rPr lang="en-US" dirty="0" err="1"/>
              <a:t>Pemrograman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Algoritma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Sesi 1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CSF101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15DCCF57-1439-F69A-31EF-362FFFBFC32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2" r="605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6833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BD0455-04E3-A25F-B3D7-52D9BC697E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Rahmat Budiarsa, </a:t>
            </a:r>
            <a:r>
              <a:rPr lang="en-US" dirty="0" err="1"/>
              <a:t>S.Kom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821AB86-107D-6475-B9D6-731B622996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D" dirty="0"/>
              <a:t>8482</a:t>
            </a:r>
          </a:p>
          <a:p>
            <a:endParaRPr lang="en-ID" dirty="0"/>
          </a:p>
          <a:p>
            <a:endParaRPr lang="en-ID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C8D0B1-B26C-69DD-741A-0825710B12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D" dirty="0"/>
              <a:t>rahmat.budiarsa@esaunggul.ac.id</a:t>
            </a:r>
          </a:p>
          <a:p>
            <a:endParaRPr lang="en-ID" dirty="0"/>
          </a:p>
          <a:p>
            <a:endParaRPr lang="en-ID" dirty="0"/>
          </a:p>
        </p:txBody>
      </p:sp>
      <p:pic>
        <p:nvPicPr>
          <p:cNvPr id="18" name="Picture Placeholder 2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CF7D57C2-EB89-26A3-73E9-07A04D65105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4" b="2214"/>
          <a:stretch>
            <a:fillRect/>
          </a:stretch>
        </p:blipFill>
        <p:spPr>
          <a:xfrm>
            <a:off x="1746250" y="1843088"/>
            <a:ext cx="3063875" cy="3063875"/>
          </a:xfrm>
        </p:spPr>
      </p:pic>
    </p:spTree>
    <p:extLst>
      <p:ext uri="{BB962C8B-B14F-4D97-AF65-F5344CB8AC3E}">
        <p14:creationId xmlns:p14="http://schemas.microsoft.com/office/powerpoint/2010/main" val="402733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sz="2000" i="1" dirty="0" err="1">
                <a:latin typeface="+mj-lt"/>
              </a:rPr>
              <a:t>Konsep</a:t>
            </a:r>
            <a:r>
              <a:rPr lang="en-US" sz="2000" i="1" dirty="0">
                <a:latin typeface="+mj-lt"/>
              </a:rPr>
              <a:t> Algoritma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Flowchart dan Pseudocode</a:t>
            </a:r>
          </a:p>
          <a:p>
            <a:endParaRPr lang="en-US" sz="2000" dirty="0">
              <a:latin typeface="+mj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Algoritma </a:t>
            </a:r>
            <a:r>
              <a:rPr lang="en-US" sz="2000" dirty="0" err="1">
                <a:latin typeface="+mj-lt"/>
              </a:rPr>
              <a:t>Pencarian</a:t>
            </a:r>
            <a:r>
              <a:rPr lang="en-US" sz="2000" dirty="0">
                <a:latin typeface="+mj-lt"/>
              </a:rP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6387655" y="4325100"/>
            <a:ext cx="2243579" cy="93271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Algoritma </a:t>
            </a:r>
            <a:r>
              <a:rPr lang="en-US" sz="2000" dirty="0" err="1">
                <a:latin typeface="+mj-lt"/>
              </a:rPr>
              <a:t>Pengurutan</a:t>
            </a:r>
            <a:r>
              <a:rPr lang="en-US" sz="2000" dirty="0">
                <a:latin typeface="+mj-lt"/>
              </a:rPr>
              <a:t> Lanjutan_1</a:t>
            </a:r>
          </a:p>
          <a:p>
            <a:endParaRPr lang="en-US" sz="2000" dirty="0">
              <a:latin typeface="+mj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9182130" y="2406828"/>
            <a:ext cx="2243579" cy="93271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Algoritma </a:t>
            </a:r>
            <a:r>
              <a:rPr lang="en-US" sz="2000" dirty="0" err="1">
                <a:latin typeface="+mj-lt"/>
              </a:rPr>
              <a:t>Pencarian</a:t>
            </a:r>
            <a:r>
              <a:rPr lang="en-US" sz="2000" dirty="0">
                <a:latin typeface="+mj-lt"/>
              </a:rPr>
              <a:t> Lanjutan_1</a:t>
            </a:r>
          </a:p>
          <a:p>
            <a:endParaRPr lang="en-US" sz="200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5983" y="1867301"/>
            <a:ext cx="2531165" cy="1588168"/>
          </a:xfrm>
          <a:prstGeom prst="rect">
            <a:avLst/>
          </a:prstGeom>
          <a:noFill/>
          <a:ln w="57150">
            <a:solidFill>
              <a:srgbClr val="0E60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4089276-FE80-0A3F-D194-4D69C7581BDE}"/>
              </a:ext>
            </a:extLst>
          </p:cNvPr>
          <p:cNvSpPr txBox="1">
            <a:spLocks/>
          </p:cNvSpPr>
          <p:nvPr/>
        </p:nvSpPr>
        <p:spPr>
          <a:xfrm>
            <a:off x="798708" y="4302648"/>
            <a:ext cx="2243579" cy="932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1600" kern="1200">
                <a:solidFill>
                  <a:schemeClr val="accent5">
                    <a:lumMod val="2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+mj-lt"/>
              </a:rPr>
              <a:t>Algoritma </a:t>
            </a:r>
            <a:r>
              <a:rPr lang="en-US" sz="2000" dirty="0" err="1">
                <a:latin typeface="+mj-lt"/>
              </a:rPr>
              <a:t>Pencarian</a:t>
            </a:r>
            <a:r>
              <a:rPr lang="en-US" sz="2000" dirty="0">
                <a:latin typeface="+mj-lt"/>
              </a:rPr>
              <a:t> Lanjutan_2</a:t>
            </a:r>
          </a:p>
          <a:p>
            <a:endParaRPr lang="en-US" sz="2000" dirty="0">
              <a:latin typeface="+mj-lt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808C92-82F5-46ED-89DF-F5AE74257B2C}"/>
              </a:ext>
            </a:extLst>
          </p:cNvPr>
          <p:cNvSpPr txBox="1">
            <a:spLocks/>
          </p:cNvSpPr>
          <p:nvPr/>
        </p:nvSpPr>
        <p:spPr>
          <a:xfrm>
            <a:off x="3593182" y="4325100"/>
            <a:ext cx="2243579" cy="932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1600" kern="1200">
                <a:solidFill>
                  <a:schemeClr val="accent5">
                    <a:lumMod val="2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+mj-lt"/>
              </a:rPr>
              <a:t>Algoritma Pengurutan 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714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3554136" y="2416350"/>
            <a:ext cx="2243579" cy="932713"/>
          </a:xfrm>
        </p:spPr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Algoritma </a:t>
            </a:r>
            <a:r>
              <a:rPr lang="en-US" sz="2000" i="1" dirty="0" err="1">
                <a:latin typeface="+mj-lt"/>
              </a:rPr>
              <a:t>Tumpukan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Algoritma </a:t>
            </a:r>
            <a:r>
              <a:rPr lang="en-US" sz="2000" dirty="0" err="1">
                <a:latin typeface="+mj-lt"/>
              </a:rPr>
              <a:t>Penjadwalan</a:t>
            </a:r>
            <a:endParaRPr lang="en-US" sz="2000" dirty="0">
              <a:latin typeface="+mj-lt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66848" y="2416350"/>
            <a:ext cx="2243579" cy="932713"/>
          </a:xfrm>
        </p:spPr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Algoritma </a:t>
            </a:r>
            <a:r>
              <a:rPr lang="en-US" sz="2000" i="1" dirty="0" err="1">
                <a:latin typeface="+mj-lt"/>
              </a:rPr>
              <a:t>Antrian</a:t>
            </a:r>
            <a:endParaRPr lang="en-US" sz="2000" i="1" dirty="0">
              <a:latin typeface="+mj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Algoritma </a:t>
            </a:r>
            <a:r>
              <a:rPr lang="en-US" sz="2000" dirty="0" err="1">
                <a:latin typeface="+mj-lt"/>
              </a:rPr>
              <a:t>Rekursif</a:t>
            </a:r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 sz="2000" dirty="0" err="1">
                <a:latin typeface="+mj-lt"/>
              </a:rPr>
              <a:t>Presentasi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Tugas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Projek</a:t>
            </a:r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</p:txBody>
      </p:sp>
      <p:sp>
        <p:nvSpPr>
          <p:cNvPr id="13" name="Text Placeholder 5"/>
          <p:cNvSpPr txBox="1">
            <a:spLocks/>
          </p:cNvSpPr>
          <p:nvPr/>
        </p:nvSpPr>
        <p:spPr>
          <a:xfrm>
            <a:off x="801277" y="2416351"/>
            <a:ext cx="2243579" cy="932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1600" kern="1200">
                <a:solidFill>
                  <a:schemeClr val="accent5">
                    <a:lumMod val="2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+mj-lt"/>
              </a:rPr>
              <a:t>Algoritma Pengurutan Lanjutan_2</a:t>
            </a:r>
            <a:endParaRPr lang="en-US" sz="2000" dirty="0">
              <a:latin typeface="+mj-lt"/>
            </a:endParaRPr>
          </a:p>
        </p:txBody>
      </p:sp>
      <p:sp>
        <p:nvSpPr>
          <p:cNvPr id="14" name="Text Placeholder 7"/>
          <p:cNvSpPr txBox="1">
            <a:spLocks/>
          </p:cNvSpPr>
          <p:nvPr/>
        </p:nvSpPr>
        <p:spPr>
          <a:xfrm>
            <a:off x="798708" y="4266643"/>
            <a:ext cx="2243579" cy="932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1600" kern="1200">
                <a:solidFill>
                  <a:schemeClr val="accent5">
                    <a:lumMod val="2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+mj-lt"/>
              </a:rPr>
              <a:t>Algoritma Penjadwalan Lanjutan_1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5881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 sz="2800" dirty="0" err="1">
                <a:latin typeface="+mj-lt"/>
              </a:rPr>
              <a:t>Mahasiswa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mampu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memahami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konsep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dasar</a:t>
            </a:r>
            <a:r>
              <a:rPr lang="en-US" sz="2800" dirty="0">
                <a:latin typeface="+mj-lt"/>
              </a:rPr>
              <a:t> algoritma.</a:t>
            </a:r>
          </a:p>
          <a:p>
            <a:pPr lvl="0" fontAlgn="base"/>
            <a:r>
              <a:rPr lang="en-US" sz="2800" dirty="0" err="1">
                <a:latin typeface="+mj-lt"/>
              </a:rPr>
              <a:t>Mahasiswa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mampu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menerapkan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konsep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dasar</a:t>
            </a:r>
            <a:r>
              <a:rPr lang="en-US" sz="2800" dirty="0">
                <a:latin typeface="+mj-lt"/>
              </a:rPr>
              <a:t> algoritma.</a:t>
            </a:r>
          </a:p>
        </p:txBody>
      </p:sp>
    </p:spTree>
    <p:extLst>
      <p:ext uri="{BB962C8B-B14F-4D97-AF65-F5344CB8AC3E}">
        <p14:creationId xmlns:p14="http://schemas.microsoft.com/office/powerpoint/2010/main" val="370605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0C26-28D7-2049-8301-71831D5B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0072-629B-D555-CAFB-9BC761A46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9365"/>
            <a:ext cx="10515600" cy="4351338"/>
          </a:xfrm>
        </p:spPr>
        <p:txBody>
          <a:bodyPr/>
          <a:lstStyle/>
          <a:p>
            <a:pPr lvl="0" fontAlgn="base"/>
            <a:r>
              <a:rPr lang="en-US" sz="2400" dirty="0"/>
              <a:t>Algorithms, 4th </a:t>
            </a:r>
            <a:r>
              <a:rPr lang="en-US" sz="2400" dirty="0" err="1"/>
              <a:t>Edition;Author</a:t>
            </a:r>
            <a:r>
              <a:rPr lang="en-US" sz="2400" dirty="0"/>
              <a:t>(s)  Robert Sedgewick  and Kevin Wayne, Publisher: Addison-Wesley Professional; 2011  </a:t>
            </a:r>
          </a:p>
          <a:p>
            <a:pPr lvl="0" fontAlgn="base"/>
            <a:endParaRPr lang="en-US" sz="2400" dirty="0"/>
          </a:p>
          <a:p>
            <a:pPr lvl="0" fontAlgn="base"/>
            <a:r>
              <a:rPr lang="en-US" sz="2400" dirty="0"/>
              <a:t>Introduction to Algorithms 3rd Ed, </a:t>
            </a:r>
            <a:r>
              <a:rPr lang="en-US" sz="2400" dirty="0" err="1"/>
              <a:t>hal</a:t>
            </a:r>
            <a:r>
              <a:rPr lang="en-US" sz="2400" dirty="0"/>
              <a:t> 1002-1012. London. The MIT. Press,2009</a:t>
            </a:r>
          </a:p>
          <a:p>
            <a:pPr lvl="0" fontAlgn="base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8650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3632-626E-47D5-278B-9F582F6B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Penilaian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FA203-E517-6523-4D4F-8D7197CBF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D" sz="2400" dirty="0" err="1"/>
              <a:t>Kehadiran</a:t>
            </a:r>
            <a:r>
              <a:rPr lang="en-ID" sz="2400" dirty="0"/>
              <a:t> =   </a:t>
            </a:r>
            <a:r>
              <a:rPr lang="id-ID" sz="2400" dirty="0"/>
              <a:t>10</a:t>
            </a:r>
            <a:r>
              <a:rPr lang="en-ID" sz="2400" dirty="0"/>
              <a:t> %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ID" sz="2400" dirty="0"/>
              <a:t>UTS  =    10  %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ID" sz="2400" dirty="0"/>
              <a:t>UAS  =    </a:t>
            </a:r>
            <a:r>
              <a:rPr lang="en-US" sz="2400" dirty="0"/>
              <a:t>10</a:t>
            </a:r>
            <a:r>
              <a:rPr lang="en-ID" sz="2400" dirty="0"/>
              <a:t>  %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ID" sz="2400" dirty="0" err="1"/>
              <a:t>Kuis</a:t>
            </a:r>
            <a:r>
              <a:rPr lang="en-ID" sz="2400" dirty="0"/>
              <a:t>  =  </a:t>
            </a:r>
            <a:r>
              <a:rPr lang="en-US" sz="2400" dirty="0"/>
              <a:t> 0 </a:t>
            </a:r>
            <a:r>
              <a:rPr lang="en-ID" sz="2400" dirty="0"/>
              <a:t>%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ID" sz="2400" dirty="0" err="1"/>
              <a:t>Tugas</a:t>
            </a:r>
            <a:r>
              <a:rPr lang="en-ID" sz="2400" dirty="0"/>
              <a:t> = 20 %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ID" sz="2400" dirty="0" err="1"/>
              <a:t>Tugas</a:t>
            </a:r>
            <a:r>
              <a:rPr lang="en-ID" sz="2400" dirty="0"/>
              <a:t> Project =  </a:t>
            </a:r>
            <a:r>
              <a:rPr lang="en-US" sz="2400" dirty="0"/>
              <a:t>50</a:t>
            </a:r>
            <a:r>
              <a:rPr lang="en-ID" sz="2400" dirty="0"/>
              <a:t> % (</a:t>
            </a:r>
            <a:r>
              <a:rPr lang="en-ID" sz="2400" dirty="0" err="1"/>
              <a:t>Berkelompok</a:t>
            </a:r>
            <a:r>
              <a:rPr lang="en-ID" sz="2400" dirty="0"/>
              <a:t>, 1 </a:t>
            </a:r>
            <a:r>
              <a:rPr lang="en-ID" sz="2400" dirty="0" err="1"/>
              <a:t>kelompok</a:t>
            </a:r>
            <a:r>
              <a:rPr lang="en-ID" sz="2400" dirty="0"/>
              <a:t> minimal 3 orang, </a:t>
            </a:r>
            <a:r>
              <a:rPr lang="en-ID" sz="2400" dirty="0" err="1"/>
              <a:t>maksimal</a:t>
            </a:r>
            <a:r>
              <a:rPr lang="en-ID" sz="2400" dirty="0"/>
              <a:t> 5 orang)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ID" sz="2400" dirty="0"/>
              <a:t>No. Handphone(WA) : 082281238309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1339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4603" y="2921471"/>
            <a:ext cx="5529197" cy="1013029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Algorithm.?</a:t>
            </a:r>
          </a:p>
        </p:txBody>
      </p:sp>
      <p:pic>
        <p:nvPicPr>
          <p:cNvPr id="7" name="Picture Placeholder 6" descr="A robot and a person looking at a computer&#10;&#10;Description automatically generated">
            <a:extLst>
              <a:ext uri="{FF2B5EF4-FFF2-40B4-BE49-F238E27FC236}">
                <a16:creationId xmlns:a16="http://schemas.microsoft.com/office/drawing/2014/main" id="{FEE44C41-B39C-B9DE-D699-F1EDFB8F276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5" r="50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4573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18477" y="886379"/>
            <a:ext cx="5280565" cy="862411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Apa </a:t>
            </a:r>
            <a:r>
              <a:rPr lang="en-US" dirty="0" err="1">
                <a:latin typeface="+mj-lt"/>
              </a:rPr>
              <a:t>itu</a:t>
            </a:r>
            <a:r>
              <a:rPr lang="en-US" dirty="0">
                <a:latin typeface="+mj-lt"/>
              </a:rPr>
              <a:t> Algoritma?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7" y="1931669"/>
            <a:ext cx="5280565" cy="3976517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+mj-lt"/>
              </a:rPr>
              <a:t>	Algoritma </a:t>
            </a:r>
            <a:r>
              <a:rPr lang="en-US" sz="2400" dirty="0" err="1">
                <a:latin typeface="+mj-lt"/>
              </a:rPr>
              <a:t>adalah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rangkain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instruksi</a:t>
            </a:r>
            <a:r>
              <a:rPr lang="en-US" sz="2400" dirty="0">
                <a:latin typeface="+mj-lt"/>
              </a:rPr>
              <a:t> yang </a:t>
            </a:r>
            <a:r>
              <a:rPr lang="en-US" sz="2400" dirty="0" err="1">
                <a:latin typeface="+mj-lt"/>
              </a:rPr>
              <a:t>jelas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untuk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memecahkan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masalah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+mj-lt"/>
              </a:rPr>
              <a:t>memperoleh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keluaran</a:t>
            </a:r>
            <a:r>
              <a:rPr lang="en-US" sz="2400" dirty="0">
                <a:latin typeface="+mj-lt"/>
              </a:rPr>
              <a:t> yang </a:t>
            </a:r>
            <a:r>
              <a:rPr lang="en-US" sz="2400" dirty="0" err="1">
                <a:latin typeface="+mj-lt"/>
              </a:rPr>
              <a:t>diinginkan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dari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masukkan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dalam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jumlah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waktu</a:t>
            </a:r>
            <a:r>
              <a:rPr lang="en-US" sz="2400" dirty="0">
                <a:latin typeface="+mj-lt"/>
              </a:rPr>
              <a:t> yang </a:t>
            </a:r>
            <a:r>
              <a:rPr lang="en-US" sz="2400" dirty="0" err="1">
                <a:latin typeface="+mj-lt"/>
              </a:rPr>
              <a:t>terbatas</a:t>
            </a:r>
            <a:r>
              <a:rPr lang="en-US" sz="2400" dirty="0">
                <a:latin typeface="+mj-lt"/>
              </a:rPr>
              <a:t>.</a:t>
            </a:r>
          </a:p>
          <a:p>
            <a:r>
              <a:rPr lang="en-US" sz="2400" dirty="0">
                <a:latin typeface="+mj-lt"/>
              </a:rPr>
              <a:t>	Algoritma </a:t>
            </a:r>
            <a:r>
              <a:rPr lang="en-US" sz="2400" dirty="0" err="1">
                <a:latin typeface="+mj-lt"/>
              </a:rPr>
              <a:t>dalam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bahasa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komputer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dinamakan</a:t>
            </a:r>
            <a:r>
              <a:rPr lang="en-US" sz="2400" dirty="0">
                <a:latin typeface="+mj-lt"/>
              </a:rPr>
              <a:t> program. </a:t>
            </a:r>
            <a:r>
              <a:rPr lang="en-US" sz="2400" dirty="0" err="1">
                <a:latin typeface="+mj-lt"/>
              </a:rPr>
              <a:t>Kegiatan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merancang</a:t>
            </a:r>
            <a:r>
              <a:rPr lang="en-US" sz="2400" dirty="0">
                <a:latin typeface="+mj-lt"/>
              </a:rPr>
              <a:t> dan </a:t>
            </a:r>
            <a:r>
              <a:rPr lang="en-US" sz="2400" dirty="0" err="1">
                <a:latin typeface="+mj-lt"/>
              </a:rPr>
              <a:t>menulis</a:t>
            </a:r>
            <a:r>
              <a:rPr lang="en-US" sz="2400" dirty="0">
                <a:latin typeface="+mj-lt"/>
              </a:rPr>
              <a:t> program </a:t>
            </a:r>
            <a:r>
              <a:rPr lang="en-US" sz="2400" dirty="0" err="1">
                <a:latin typeface="+mj-lt"/>
              </a:rPr>
              <a:t>dinamakan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pemrograman</a:t>
            </a:r>
            <a:r>
              <a:rPr lang="en-US" sz="2400" dirty="0">
                <a:latin typeface="+mj-lt"/>
              </a:rPr>
              <a:t>.</a:t>
            </a:r>
          </a:p>
          <a:p>
            <a:r>
              <a:rPr lang="en-US" sz="2400" dirty="0">
                <a:latin typeface="+mj-lt"/>
              </a:rPr>
              <a:t>	</a:t>
            </a:r>
            <a:r>
              <a:rPr lang="en-US" sz="2400" dirty="0" err="1">
                <a:latin typeface="+mj-lt"/>
              </a:rPr>
              <a:t>Pemrograman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ditekankan</a:t>
            </a:r>
            <a:r>
              <a:rPr lang="en-US" sz="2400" dirty="0">
                <a:latin typeface="+mj-lt"/>
              </a:rPr>
              <a:t> pada </a:t>
            </a:r>
            <a:r>
              <a:rPr lang="en-US" sz="2400" dirty="0" err="1">
                <a:latin typeface="+mj-lt"/>
              </a:rPr>
              <a:t>pemecahan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masalah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+mj-lt"/>
              </a:rPr>
              <a:t>rancangan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+mj-lt"/>
              </a:rPr>
              <a:t>solusi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ditulis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dalam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notasi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diskriptif</a:t>
            </a:r>
            <a:r>
              <a:rPr lang="en-US" sz="2400" dirty="0">
                <a:latin typeface="+mj-lt"/>
              </a:rPr>
              <a:t> (</a:t>
            </a:r>
            <a:r>
              <a:rPr lang="en-US" sz="2400" dirty="0" err="1">
                <a:latin typeface="+mj-lt"/>
              </a:rPr>
              <a:t>notasi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algoritmik</a:t>
            </a:r>
            <a:r>
              <a:rPr lang="en-US" sz="2400" dirty="0">
                <a:latin typeface="+mj-lt"/>
              </a:rPr>
              <a:t>)</a:t>
            </a:r>
          </a:p>
        </p:txBody>
      </p:sp>
      <p:pic>
        <p:nvPicPr>
          <p:cNvPr id="1026" name="Picture 2" descr="Memahami Dasar-Dasar Pemrograman untuk Karier IT yang Sukses | Berita |  Gamelab Indonesia">
            <a:extLst>
              <a:ext uri="{FF2B5EF4-FFF2-40B4-BE49-F238E27FC236}">
                <a16:creationId xmlns:a16="http://schemas.microsoft.com/office/drawing/2014/main" id="{61BBA8B4-E0B3-59BF-C784-C65E88A26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5" t="174" r="25488" b="5256"/>
          <a:stretch>
            <a:fillRect/>
          </a:stretch>
        </p:blipFill>
        <p:spPr bwMode="auto">
          <a:xfrm>
            <a:off x="716973" y="1010516"/>
            <a:ext cx="4783717" cy="48369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10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18478" y="886379"/>
            <a:ext cx="5280565" cy="862411"/>
          </a:xfrm>
        </p:spPr>
        <p:txBody>
          <a:bodyPr>
            <a:normAutofit/>
          </a:bodyPr>
          <a:lstStyle/>
          <a:p>
            <a:r>
              <a:rPr lang="en-US" dirty="0"/>
              <a:t>Ciri-Ciri Algoritma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8" y="1575882"/>
            <a:ext cx="5636214" cy="4657278"/>
          </a:xfrm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	Agar </a:t>
            </a:r>
            <a:r>
              <a:rPr lang="en-US" dirty="0" err="1">
                <a:latin typeface="+mn-lt"/>
              </a:rPr>
              <a:t>sebuah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instruksi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dapat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disebut</a:t>
            </a:r>
            <a:r>
              <a:rPr lang="en-US" dirty="0">
                <a:latin typeface="+mn-lt"/>
              </a:rPr>
              <a:t> algoritma, </a:t>
            </a:r>
            <a:r>
              <a:rPr lang="en-US" dirty="0" err="1">
                <a:latin typeface="+mn-lt"/>
              </a:rPr>
              <a:t>ia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harus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memenuhi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beberapa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karakteristik</a:t>
            </a:r>
            <a:r>
              <a:rPr lang="en-US" dirty="0">
                <a:latin typeface="+mn-lt"/>
              </a:rPr>
              <a:t>: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>
                <a:latin typeface="+mn-lt"/>
              </a:rPr>
              <a:t>Terdefinisi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dengan</a:t>
            </a:r>
            <a:r>
              <a:rPr lang="en-US" b="1" dirty="0">
                <a:latin typeface="+mn-lt"/>
              </a:rPr>
              <a:t> Jelas (Definite): </a:t>
            </a:r>
            <a:r>
              <a:rPr lang="en-US" dirty="0" err="1">
                <a:latin typeface="+mn-lt"/>
              </a:rPr>
              <a:t>Setiap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langkah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dalam</a:t>
            </a:r>
            <a:r>
              <a:rPr lang="en-US" dirty="0">
                <a:latin typeface="+mn-lt"/>
              </a:rPr>
              <a:t> algoritma </a:t>
            </a:r>
            <a:r>
              <a:rPr lang="en-US" dirty="0" err="1">
                <a:latin typeface="+mn-lt"/>
              </a:rPr>
              <a:t>harus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jelas</a:t>
            </a:r>
            <a:r>
              <a:rPr lang="en-US" dirty="0">
                <a:latin typeface="+mn-lt"/>
              </a:rPr>
              <a:t> dan </a:t>
            </a:r>
            <a:r>
              <a:rPr lang="en-US" dirty="0" err="1">
                <a:latin typeface="+mn-lt"/>
              </a:rPr>
              <a:t>tidak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ambigu</a:t>
            </a:r>
            <a:r>
              <a:rPr lang="en-US" dirty="0">
                <a:latin typeface="+mn-lt"/>
              </a:rPr>
              <a:t>, </a:t>
            </a:r>
            <a:r>
              <a:rPr lang="en-US" dirty="0" err="1">
                <a:latin typeface="+mn-lt"/>
              </a:rPr>
              <a:t>sehingga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tidak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ada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keraguan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tentang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apa</a:t>
            </a:r>
            <a:r>
              <a:rPr lang="en-US" dirty="0">
                <a:latin typeface="+mn-lt"/>
              </a:rPr>
              <a:t> yang </a:t>
            </a:r>
            <a:r>
              <a:rPr lang="en-US" dirty="0" err="1">
                <a:latin typeface="+mn-lt"/>
              </a:rPr>
              <a:t>harus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dilakukan</a:t>
            </a:r>
            <a:r>
              <a:rPr lang="en-US" dirty="0">
                <a:latin typeface="+mn-lt"/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>
                <a:latin typeface="+mn-lt"/>
              </a:rPr>
              <a:t>Sistematis</a:t>
            </a:r>
            <a:r>
              <a:rPr lang="en-US" b="1" dirty="0">
                <a:latin typeface="+mn-lt"/>
              </a:rPr>
              <a:t> dan </a:t>
            </a:r>
            <a:r>
              <a:rPr lang="en-US" b="1" dirty="0" err="1">
                <a:latin typeface="+mn-lt"/>
              </a:rPr>
              <a:t>Berurutan</a:t>
            </a:r>
            <a:r>
              <a:rPr lang="en-US" b="1" dirty="0">
                <a:latin typeface="+mn-lt"/>
              </a:rPr>
              <a:t>: </a:t>
            </a:r>
            <a:r>
              <a:rPr lang="en-US" dirty="0">
                <a:latin typeface="+mn-lt"/>
              </a:rPr>
              <a:t>Langkah-</a:t>
            </a:r>
            <a:r>
              <a:rPr lang="en-US" dirty="0" err="1">
                <a:latin typeface="+mn-lt"/>
              </a:rPr>
              <a:t>langkahnya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harus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disusun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secara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logis</a:t>
            </a:r>
            <a:r>
              <a:rPr lang="en-US" dirty="0">
                <a:latin typeface="+mn-lt"/>
              </a:rPr>
              <a:t> dan </a:t>
            </a:r>
            <a:r>
              <a:rPr lang="en-US" dirty="0" err="1">
                <a:latin typeface="+mn-lt"/>
              </a:rPr>
              <a:t>dieksekusi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secara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berurutan</a:t>
            </a:r>
            <a:r>
              <a:rPr lang="en-US" dirty="0">
                <a:latin typeface="+mn-lt"/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>
                <a:latin typeface="+mn-lt"/>
              </a:rPr>
              <a:t>Memiliki</a:t>
            </a:r>
            <a:r>
              <a:rPr lang="en-US" b="1" dirty="0">
                <a:latin typeface="+mn-lt"/>
              </a:rPr>
              <a:t> Tujuan: </a:t>
            </a:r>
            <a:r>
              <a:rPr lang="en-US" dirty="0">
                <a:latin typeface="+mn-lt"/>
              </a:rPr>
              <a:t>Algoritma </a:t>
            </a:r>
            <a:r>
              <a:rPr lang="en-US" dirty="0" err="1">
                <a:latin typeface="+mn-lt"/>
              </a:rPr>
              <a:t>memiliki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tujuan</a:t>
            </a:r>
            <a:r>
              <a:rPr lang="en-US" dirty="0">
                <a:latin typeface="+mn-lt"/>
              </a:rPr>
              <a:t> yang </a:t>
            </a:r>
            <a:r>
              <a:rPr lang="en-US" dirty="0" err="1">
                <a:latin typeface="+mn-lt"/>
              </a:rPr>
              <a:t>ingin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dicapai</a:t>
            </a:r>
            <a:r>
              <a:rPr lang="en-US" dirty="0">
                <a:latin typeface="+mn-lt"/>
              </a:rPr>
              <a:t>, </a:t>
            </a:r>
            <a:r>
              <a:rPr lang="en-US" dirty="0" err="1">
                <a:latin typeface="+mn-lt"/>
              </a:rPr>
              <a:t>yaitu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menyelesaikan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masalah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atau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menghasilkan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keluaran</a:t>
            </a:r>
            <a:r>
              <a:rPr lang="en-US" dirty="0">
                <a:latin typeface="+mn-lt"/>
              </a:rPr>
              <a:t> yang </a:t>
            </a:r>
            <a:r>
              <a:rPr lang="en-US" dirty="0" err="1">
                <a:latin typeface="+mn-lt"/>
              </a:rPr>
              <a:t>diinginkan</a:t>
            </a:r>
            <a:r>
              <a:rPr lang="en-US" dirty="0">
                <a:latin typeface="+mn-lt"/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>
                <a:latin typeface="+mn-lt"/>
              </a:rPr>
              <a:t>Memiliki</a:t>
            </a:r>
            <a:r>
              <a:rPr lang="en-US" b="1" dirty="0">
                <a:latin typeface="+mn-lt"/>
              </a:rPr>
              <a:t> Batasan: </a:t>
            </a:r>
            <a:r>
              <a:rPr lang="en-US" dirty="0">
                <a:latin typeface="+mn-lt"/>
              </a:rPr>
              <a:t>Algoritma </a:t>
            </a:r>
            <a:r>
              <a:rPr lang="en-US" dirty="0" err="1">
                <a:latin typeface="+mn-lt"/>
              </a:rPr>
              <a:t>harus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memiliki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jumlah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operasi</a:t>
            </a:r>
            <a:r>
              <a:rPr lang="en-US" dirty="0">
                <a:latin typeface="+mn-lt"/>
              </a:rPr>
              <a:t> yang </a:t>
            </a:r>
            <a:r>
              <a:rPr lang="en-US" dirty="0" err="1">
                <a:latin typeface="+mn-lt"/>
              </a:rPr>
              <a:t>berhingga</a:t>
            </a:r>
            <a:r>
              <a:rPr lang="en-US" dirty="0">
                <a:latin typeface="+mn-lt"/>
              </a:rPr>
              <a:t>. </a:t>
            </a:r>
          </a:p>
        </p:txBody>
      </p:sp>
      <p:pic>
        <p:nvPicPr>
          <p:cNvPr id="2050" name="Picture 2" descr="Pemrograman: Dasar-dasar dan Mengapa Itu Penting - Logika Program">
            <a:extLst>
              <a:ext uri="{FF2B5EF4-FFF2-40B4-BE49-F238E27FC236}">
                <a16:creationId xmlns:a16="http://schemas.microsoft.com/office/drawing/2014/main" id="{AD14B514-A082-7706-CA86-735682C01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21" y="1975379"/>
            <a:ext cx="5571257" cy="31338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02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18477" y="1308599"/>
            <a:ext cx="5280565" cy="862411"/>
          </a:xfrm>
        </p:spPr>
        <p:txBody>
          <a:bodyPr>
            <a:normAutofit/>
          </a:bodyPr>
          <a:lstStyle/>
          <a:p>
            <a:r>
              <a:rPr lang="en-US" dirty="0" err="1"/>
              <a:t>Karakteristik</a:t>
            </a:r>
            <a:r>
              <a:rPr lang="en-US" dirty="0"/>
              <a:t> Algoritma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8" y="2045280"/>
            <a:ext cx="5636214" cy="4187879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D" b="1" dirty="0"/>
              <a:t>Logis: </a:t>
            </a:r>
            <a:r>
              <a:rPr lang="en-ID" dirty="0"/>
              <a:t>Langkah-</a:t>
            </a:r>
            <a:r>
              <a:rPr lang="en-ID" dirty="0" err="1"/>
              <a:t>langkahnya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akal</a:t>
            </a:r>
            <a:r>
              <a:rPr lang="en-ID" dirty="0"/>
              <a:t> dan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diikuti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b="1" dirty="0" err="1"/>
              <a:t>Sistematis</a:t>
            </a:r>
            <a:r>
              <a:rPr lang="en-ID" b="1" dirty="0"/>
              <a:t>: </a:t>
            </a:r>
            <a:r>
              <a:rPr lang="en-ID" dirty="0" err="1"/>
              <a:t>Tahapannya</a:t>
            </a:r>
            <a:r>
              <a:rPr lang="en-ID" dirty="0"/>
              <a:t> </a:t>
            </a:r>
            <a:r>
              <a:rPr lang="en-ID" dirty="0" err="1"/>
              <a:t>tersusun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berurutan</a:t>
            </a:r>
            <a:r>
              <a:rPr lang="en-ID" dirty="0"/>
              <a:t>,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akhir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b="1" dirty="0" err="1"/>
              <a:t>Spesifik</a:t>
            </a:r>
            <a:r>
              <a:rPr lang="en-ID" b="1" dirty="0"/>
              <a:t>: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instruksi</a:t>
            </a:r>
            <a:r>
              <a:rPr lang="en-ID" dirty="0"/>
              <a:t> </a:t>
            </a:r>
            <a:r>
              <a:rPr lang="en-ID" dirty="0" err="1"/>
              <a:t>dijelaskan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ambigu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b="1" dirty="0"/>
              <a:t>Terbatas: </a:t>
            </a:r>
            <a:r>
              <a:rPr lang="en-ID" dirty="0" err="1"/>
              <a:t>Prosesnya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berakhir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sejumlah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 </a:t>
            </a:r>
            <a:r>
              <a:rPr lang="en-ID" dirty="0" err="1"/>
              <a:t>selamanya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b="1" dirty="0" err="1"/>
              <a:t>Menghasilkan</a:t>
            </a:r>
            <a:r>
              <a:rPr lang="en-ID" b="1" dirty="0"/>
              <a:t> output: </a:t>
            </a:r>
            <a:r>
              <a:rPr lang="en-ID" dirty="0" err="1"/>
              <a:t>Tujuannya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solusi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yang </a:t>
            </a:r>
            <a:r>
              <a:rPr lang="en-ID" dirty="0" err="1"/>
              <a:t>diberikan</a:t>
            </a:r>
            <a:r>
              <a:rPr lang="en-ID" dirty="0"/>
              <a:t>.</a:t>
            </a:r>
          </a:p>
          <a:p>
            <a:pPr algn="l"/>
            <a:endParaRPr lang="en-US" sz="2400" dirty="0">
              <a:latin typeface="+mn-lt"/>
            </a:endParaRPr>
          </a:p>
        </p:txBody>
      </p:sp>
      <p:pic>
        <p:nvPicPr>
          <p:cNvPr id="3080" name="Picture 8" descr="Perbedaan Coding dan Programming yang Perlu Diketahui">
            <a:extLst>
              <a:ext uri="{FF2B5EF4-FFF2-40B4-BE49-F238E27FC236}">
                <a16:creationId xmlns:a16="http://schemas.microsoft.com/office/drawing/2014/main" id="{D17ADCB2-6885-A3BA-86C8-CDA94D377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90" y="2354094"/>
            <a:ext cx="5567464" cy="27837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5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E344C-573B-ABD1-5F92-EFCE1683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Fungsi</a:t>
            </a:r>
            <a:r>
              <a:rPr lang="en-ID" dirty="0"/>
              <a:t> dan </a:t>
            </a:r>
            <a:r>
              <a:rPr lang="en-ID" dirty="0" err="1"/>
              <a:t>Penggunaan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B40BD-89FD-11A0-EBB2-BA6351095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18477" y="1478604"/>
            <a:ext cx="5628255" cy="5021807"/>
          </a:xfrm>
        </p:spPr>
        <p:txBody>
          <a:bodyPr>
            <a:normAutofit/>
          </a:bodyPr>
          <a:lstStyle/>
          <a:p>
            <a:r>
              <a:rPr lang="en-ID" dirty="0"/>
              <a:t>Algoritma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peran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D" b="1" dirty="0" err="1"/>
              <a:t>Pemrograman</a:t>
            </a:r>
            <a:r>
              <a:rPr lang="en-ID" b="1" dirty="0"/>
              <a:t> </a:t>
            </a:r>
            <a:r>
              <a:rPr lang="en-ID" b="1" dirty="0" err="1"/>
              <a:t>Komputer</a:t>
            </a:r>
            <a:r>
              <a:rPr lang="en-ID" b="1" dirty="0"/>
              <a:t>: </a:t>
            </a:r>
            <a:r>
              <a:rPr lang="en-ID" dirty="0"/>
              <a:t>Algoritma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fondasi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, di mana </a:t>
            </a:r>
            <a:r>
              <a:rPr lang="en-ID" dirty="0" err="1"/>
              <a:t>ia</a:t>
            </a:r>
            <a:r>
              <a:rPr lang="en-ID" dirty="0"/>
              <a:t> menjadi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instruksi</a:t>
            </a:r>
            <a:r>
              <a:rPr lang="en-ID" dirty="0"/>
              <a:t> yang </a:t>
            </a:r>
            <a:r>
              <a:rPr lang="en-ID" dirty="0" err="1"/>
              <a:t>dieksekusi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memproses</a:t>
            </a:r>
            <a:r>
              <a:rPr lang="en-ID" dirty="0"/>
              <a:t> data, </a:t>
            </a:r>
            <a:r>
              <a:rPr lang="en-ID" dirty="0" err="1"/>
              <a:t>mengurutkan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menjalankan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kompleks</a:t>
            </a:r>
            <a:r>
              <a:rPr lang="en-ID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ID" b="1" dirty="0" err="1"/>
              <a:t>Penyelesaian</a:t>
            </a:r>
            <a:r>
              <a:rPr lang="en-ID" b="1" dirty="0"/>
              <a:t> </a:t>
            </a:r>
            <a:r>
              <a:rPr lang="en-ID" b="1" dirty="0" err="1"/>
              <a:t>Masalah</a:t>
            </a:r>
            <a:r>
              <a:rPr lang="en-ID" b="1" dirty="0"/>
              <a:t>: </a:t>
            </a:r>
            <a:r>
              <a:rPr lang="en-ID" dirty="0"/>
              <a:t>Algoritma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memecahkan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sehari-hari</a:t>
            </a:r>
            <a:r>
              <a:rPr lang="en-ID" dirty="0"/>
              <a:t> yang </a:t>
            </a:r>
            <a:r>
              <a:rPr lang="en-ID" dirty="0" err="1"/>
              <a:t>membutuhkan</a:t>
            </a:r>
            <a:r>
              <a:rPr lang="en-ID" dirty="0"/>
              <a:t> </a:t>
            </a:r>
            <a:r>
              <a:rPr lang="en-ID" dirty="0" err="1"/>
              <a:t>serangkaian</a:t>
            </a:r>
            <a:r>
              <a:rPr lang="en-ID" dirty="0"/>
              <a:t> proses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</a:t>
            </a:r>
            <a:r>
              <a:rPr lang="en-ID" dirty="0" err="1"/>
              <a:t>prosedural</a:t>
            </a:r>
            <a:r>
              <a:rPr lang="en-ID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ID" b="1" dirty="0" err="1"/>
              <a:t>Personalisasi</a:t>
            </a:r>
            <a:r>
              <a:rPr lang="en-ID" b="1" dirty="0"/>
              <a:t> </a:t>
            </a:r>
            <a:r>
              <a:rPr lang="en-ID" b="1" dirty="0" err="1"/>
              <a:t>Layanan</a:t>
            </a:r>
            <a:r>
              <a:rPr lang="en-ID" b="1" dirty="0"/>
              <a:t>: </a:t>
            </a:r>
            <a:r>
              <a:rPr lang="en-ID" dirty="0"/>
              <a:t>Banyak </a:t>
            </a:r>
            <a:r>
              <a:rPr lang="en-ID" dirty="0" err="1"/>
              <a:t>aplikasi</a:t>
            </a:r>
            <a:r>
              <a:rPr lang="en-ID" dirty="0"/>
              <a:t> dan </a:t>
            </a:r>
            <a:r>
              <a:rPr lang="en-ID" dirty="0" err="1"/>
              <a:t>layanan</a:t>
            </a:r>
            <a:r>
              <a:rPr lang="en-ID" dirty="0"/>
              <a:t> online </a:t>
            </a:r>
            <a:r>
              <a:rPr lang="en-ID" dirty="0" err="1"/>
              <a:t>menggunakan</a:t>
            </a:r>
            <a:r>
              <a:rPr lang="en-ID" dirty="0"/>
              <a:t> algoritma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rekomendasi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preferensi</a:t>
            </a:r>
            <a:r>
              <a:rPr lang="en-ID" dirty="0"/>
              <a:t> yang </a:t>
            </a:r>
            <a:r>
              <a:rPr lang="en-ID" dirty="0" err="1"/>
              <a:t>dipersonalisasi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pada </a:t>
            </a:r>
            <a:r>
              <a:rPr lang="en-ID" dirty="0" err="1"/>
              <a:t>mesin</a:t>
            </a:r>
            <a:r>
              <a:rPr lang="en-ID" dirty="0"/>
              <a:t> </a:t>
            </a:r>
            <a:r>
              <a:rPr lang="en-ID" dirty="0" err="1"/>
              <a:t>pencari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platform video. </a:t>
            </a:r>
          </a:p>
        </p:txBody>
      </p:sp>
      <p:pic>
        <p:nvPicPr>
          <p:cNvPr id="5" name="Picture 6" descr="8 Cara Belajar Pemrograman yang Efektif untuk Pemula • PT DIENG CYBER  INDONESIA">
            <a:extLst>
              <a:ext uri="{FF2B5EF4-FFF2-40B4-BE49-F238E27FC236}">
                <a16:creationId xmlns:a16="http://schemas.microsoft.com/office/drawing/2014/main" id="{C1898D23-78FC-6E88-3DC2-3479885C6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73" y="1716232"/>
            <a:ext cx="4100213" cy="3572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4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515C04-444C-09FE-48A8-C69A353A7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Perintah</a:t>
            </a:r>
            <a:r>
              <a:rPr lang="en-ID" dirty="0"/>
              <a:t> Dasar Algoritma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9A46F-E917-3471-E98D-7A4A6C032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800" dirty="0" err="1"/>
              <a:t>Penulisan</a:t>
            </a:r>
            <a:endParaRPr lang="en-ID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800" dirty="0" err="1"/>
              <a:t>Pembacaan</a:t>
            </a:r>
            <a:endParaRPr lang="en-ID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800" dirty="0" err="1"/>
              <a:t>Pemuatan</a:t>
            </a:r>
            <a:endParaRPr lang="en-ID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800" dirty="0" err="1"/>
              <a:t>Pengulangan</a:t>
            </a:r>
            <a:endParaRPr lang="en-ID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800" dirty="0" err="1"/>
              <a:t>Pengkondisian</a:t>
            </a:r>
            <a:endParaRPr lang="en-ID" sz="2800" dirty="0"/>
          </a:p>
          <a:p>
            <a:endParaRPr lang="en-ID" sz="2800" dirty="0"/>
          </a:p>
        </p:txBody>
      </p:sp>
      <p:pic>
        <p:nvPicPr>
          <p:cNvPr id="4106" name="Picture 10" descr="Coding: Definisi, Manfaat, Jenis Bahasa Pemrograman, Dan Cara  Mempelajarinya | Karirlink">
            <a:extLst>
              <a:ext uri="{FF2B5EF4-FFF2-40B4-BE49-F238E27FC236}">
                <a16:creationId xmlns:a16="http://schemas.microsoft.com/office/drawing/2014/main" id="{55D56304-1D09-70DC-1597-EE3CE60EB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311" y="1160950"/>
            <a:ext cx="7393737" cy="4150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27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18478" y="886379"/>
            <a:ext cx="5280565" cy="862411"/>
          </a:xfrm>
        </p:spPr>
        <p:txBody>
          <a:bodyPr>
            <a:normAutofit fontScale="90000"/>
          </a:bodyPr>
          <a:lstStyle/>
          <a:p>
            <a:r>
              <a:rPr lang="en-US" dirty="0"/>
              <a:t>Algoritma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Pemrograman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8" y="1867710"/>
            <a:ext cx="5636214" cy="4776929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latin typeface="+mj-lt"/>
              </a:rPr>
              <a:t>Algoritma </a:t>
            </a:r>
            <a:r>
              <a:rPr lang="en-US" b="1" dirty="0" err="1">
                <a:latin typeface="+mj-lt"/>
              </a:rPr>
              <a:t>pengurutan</a:t>
            </a:r>
            <a:r>
              <a:rPr lang="en-US" b="1" dirty="0">
                <a:latin typeface="+mj-lt"/>
              </a:rPr>
              <a:t> (sorting): </a:t>
            </a:r>
            <a:r>
              <a:rPr lang="en-US" dirty="0" err="1">
                <a:latin typeface="+mj-lt"/>
              </a:rPr>
              <a:t>Mengurutkan</a:t>
            </a:r>
            <a:r>
              <a:rPr lang="en-US" dirty="0">
                <a:latin typeface="+mj-lt"/>
              </a:rPr>
              <a:t> data, </a:t>
            </a:r>
            <a:r>
              <a:rPr lang="en-US" dirty="0" err="1">
                <a:latin typeface="+mj-lt"/>
              </a:rPr>
              <a:t>misalnya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dari</a:t>
            </a:r>
            <a:r>
              <a:rPr lang="en-US" dirty="0">
                <a:latin typeface="+mj-lt"/>
              </a:rPr>
              <a:t> yang </a:t>
            </a:r>
            <a:r>
              <a:rPr lang="en-US" dirty="0" err="1">
                <a:latin typeface="+mj-lt"/>
              </a:rPr>
              <a:t>terkecil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terbesar</a:t>
            </a:r>
            <a:r>
              <a:rPr lang="en-US" dirty="0">
                <a:latin typeface="+mj-lt"/>
              </a:rPr>
              <a:t>.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latin typeface="+mj-lt"/>
              </a:rPr>
              <a:t>Algoritma </a:t>
            </a:r>
            <a:r>
              <a:rPr lang="en-US" b="1" dirty="0" err="1">
                <a:latin typeface="+mj-lt"/>
              </a:rPr>
              <a:t>pencarian</a:t>
            </a:r>
            <a:r>
              <a:rPr lang="en-US" b="1" dirty="0">
                <a:latin typeface="+mj-lt"/>
              </a:rPr>
              <a:t>: </a:t>
            </a:r>
            <a:r>
              <a:rPr lang="en-US" dirty="0" err="1">
                <a:latin typeface="+mj-lt"/>
              </a:rPr>
              <a:t>Menemukan</a:t>
            </a:r>
            <a:r>
              <a:rPr lang="en-US" dirty="0">
                <a:latin typeface="+mj-lt"/>
              </a:rPr>
              <a:t> data </a:t>
            </a:r>
            <a:r>
              <a:rPr lang="en-US" dirty="0" err="1">
                <a:latin typeface="+mj-lt"/>
              </a:rPr>
              <a:t>tertentu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dalam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sebuah</a:t>
            </a:r>
            <a:r>
              <a:rPr lang="en-US" dirty="0">
                <a:latin typeface="+mj-lt"/>
              </a:rPr>
              <a:t> daftar.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latin typeface="+mj-lt"/>
              </a:rPr>
              <a:t>Algoritma </a:t>
            </a:r>
            <a:r>
              <a:rPr lang="en-US" b="1" dirty="0" err="1">
                <a:latin typeface="+mj-lt"/>
              </a:rPr>
              <a:t>rekursif</a:t>
            </a:r>
            <a:r>
              <a:rPr lang="en-US" b="1" dirty="0">
                <a:latin typeface="+mj-lt"/>
              </a:rPr>
              <a:t>: </a:t>
            </a:r>
            <a:r>
              <a:rPr lang="en-US" dirty="0" err="1">
                <a:latin typeface="+mj-lt"/>
              </a:rPr>
              <a:t>Memecah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masalah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besar</a:t>
            </a:r>
            <a:r>
              <a:rPr lang="en-US" dirty="0">
                <a:latin typeface="+mj-lt"/>
              </a:rPr>
              <a:t> menjadi sub-</a:t>
            </a:r>
            <a:r>
              <a:rPr lang="en-US" dirty="0" err="1">
                <a:latin typeface="+mj-lt"/>
              </a:rPr>
              <a:t>masalah</a:t>
            </a:r>
            <a:r>
              <a:rPr lang="en-US" dirty="0">
                <a:latin typeface="+mj-lt"/>
              </a:rPr>
              <a:t> yang </a:t>
            </a:r>
            <a:r>
              <a:rPr lang="en-US" dirty="0" err="1">
                <a:latin typeface="+mj-lt"/>
              </a:rPr>
              <a:t>lebih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kecil</a:t>
            </a:r>
            <a:r>
              <a:rPr lang="en-US" dirty="0">
                <a:latin typeface="+mj-lt"/>
              </a:rPr>
              <a:t> dan </a:t>
            </a:r>
            <a:r>
              <a:rPr lang="en-US" dirty="0" err="1">
                <a:latin typeface="+mj-lt"/>
              </a:rPr>
              <a:t>diselesaikan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berulang</a:t>
            </a:r>
            <a:r>
              <a:rPr lang="en-US" dirty="0">
                <a:latin typeface="+mj-lt"/>
              </a:rPr>
              <a:t> kali. </a:t>
            </a:r>
          </a:p>
        </p:txBody>
      </p:sp>
      <p:pic>
        <p:nvPicPr>
          <p:cNvPr id="7" name="Picture Placeholder 6" descr="A group of people holding their thumbs up&#10;&#10;Description automatically generated">
            <a:extLst>
              <a:ext uri="{FF2B5EF4-FFF2-40B4-BE49-F238E27FC236}">
                <a16:creationId xmlns:a16="http://schemas.microsoft.com/office/drawing/2014/main" id="{D4AF7942-ADE3-A337-F4FF-1A304F89A68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" r="134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66702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638109" y="749219"/>
            <a:ext cx="5983961" cy="61026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algoritma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kehidupan</a:t>
            </a:r>
            <a:r>
              <a:rPr lang="en-US" dirty="0"/>
              <a:t> </a:t>
            </a:r>
            <a:r>
              <a:rPr lang="en-US" dirty="0" err="1"/>
              <a:t>sehari-hari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38109" y="1634246"/>
            <a:ext cx="5983962" cy="4395604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100" b="1" dirty="0" err="1">
                <a:latin typeface="+mj-lt"/>
              </a:rPr>
              <a:t>Membuat</a:t>
            </a:r>
            <a:r>
              <a:rPr lang="en-US" sz="2100" b="1" dirty="0">
                <a:latin typeface="+mj-lt"/>
              </a:rPr>
              <a:t> </a:t>
            </a:r>
            <a:r>
              <a:rPr lang="en-US" sz="2100" b="1" dirty="0" err="1">
                <a:latin typeface="+mj-lt"/>
              </a:rPr>
              <a:t>secangkir</a:t>
            </a:r>
            <a:r>
              <a:rPr lang="en-US" sz="2100" b="1" dirty="0">
                <a:latin typeface="+mj-lt"/>
              </a:rPr>
              <a:t> </a:t>
            </a:r>
            <a:r>
              <a:rPr lang="en-US" sz="2100" b="1" dirty="0" err="1">
                <a:latin typeface="+mj-lt"/>
              </a:rPr>
              <a:t>teh</a:t>
            </a:r>
            <a:r>
              <a:rPr lang="en-US" sz="2100" b="1" dirty="0">
                <a:latin typeface="+mj-lt"/>
              </a:rPr>
              <a:t>: </a:t>
            </a:r>
            <a:r>
              <a:rPr lang="en-US" sz="2100" dirty="0">
                <a:latin typeface="+mj-lt"/>
              </a:rPr>
              <a:t>Langkah-</a:t>
            </a:r>
            <a:r>
              <a:rPr lang="en-US" sz="2100" dirty="0" err="1">
                <a:latin typeface="+mj-lt"/>
              </a:rPr>
              <a:t>langkahnya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adalah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merebus</a:t>
            </a:r>
            <a:r>
              <a:rPr lang="en-US" sz="2100" dirty="0">
                <a:latin typeface="+mj-lt"/>
              </a:rPr>
              <a:t> air, </a:t>
            </a:r>
            <a:r>
              <a:rPr lang="en-US" sz="2100" dirty="0" err="1">
                <a:latin typeface="+mj-lt"/>
              </a:rPr>
              <a:t>memasukkan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teh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celup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ke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dalam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cangkir</a:t>
            </a:r>
            <a:r>
              <a:rPr lang="en-US" sz="2100" dirty="0">
                <a:latin typeface="+mj-lt"/>
              </a:rPr>
              <a:t>, </a:t>
            </a:r>
            <a:r>
              <a:rPr lang="en-US" sz="2100" dirty="0" err="1">
                <a:latin typeface="+mj-lt"/>
              </a:rPr>
              <a:t>menuang</a:t>
            </a:r>
            <a:r>
              <a:rPr lang="en-US" sz="2100" dirty="0">
                <a:latin typeface="+mj-lt"/>
              </a:rPr>
              <a:t> air </a:t>
            </a:r>
            <a:r>
              <a:rPr lang="en-US" sz="2100" dirty="0" err="1">
                <a:latin typeface="+mj-lt"/>
              </a:rPr>
              <a:t>panas</a:t>
            </a:r>
            <a:r>
              <a:rPr lang="en-US" sz="2100" dirty="0">
                <a:latin typeface="+mj-lt"/>
              </a:rPr>
              <a:t>, </a:t>
            </a:r>
            <a:r>
              <a:rPr lang="en-US" sz="2100" dirty="0" err="1">
                <a:latin typeface="+mj-lt"/>
              </a:rPr>
              <a:t>lalu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menambahkan</a:t>
            </a:r>
            <a:r>
              <a:rPr lang="en-US" sz="2100" dirty="0">
                <a:latin typeface="+mj-lt"/>
              </a:rPr>
              <a:t> gula.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b="1" dirty="0" err="1">
                <a:latin typeface="+mj-lt"/>
              </a:rPr>
              <a:t>Mencari</a:t>
            </a:r>
            <a:r>
              <a:rPr lang="en-US" sz="2100" b="1" dirty="0">
                <a:latin typeface="+mj-lt"/>
              </a:rPr>
              <a:t> </a:t>
            </a:r>
            <a:r>
              <a:rPr lang="en-US" sz="2100" b="1" dirty="0" err="1">
                <a:latin typeface="+mj-lt"/>
              </a:rPr>
              <a:t>alamat</a:t>
            </a:r>
            <a:r>
              <a:rPr lang="en-US" sz="2100" b="1" dirty="0">
                <a:latin typeface="+mj-lt"/>
              </a:rPr>
              <a:t> di </a:t>
            </a:r>
            <a:r>
              <a:rPr lang="en-US" sz="2100" b="1" dirty="0" err="1">
                <a:latin typeface="+mj-lt"/>
              </a:rPr>
              <a:t>peta</a:t>
            </a:r>
            <a:r>
              <a:rPr lang="en-US" sz="2100" b="1" dirty="0">
                <a:latin typeface="+mj-lt"/>
              </a:rPr>
              <a:t>: </a:t>
            </a:r>
            <a:r>
              <a:rPr lang="en-US" sz="2100" dirty="0">
                <a:latin typeface="+mj-lt"/>
              </a:rPr>
              <a:t>Langkah-</a:t>
            </a:r>
            <a:r>
              <a:rPr lang="en-US" sz="2100" dirty="0" err="1">
                <a:latin typeface="+mj-lt"/>
              </a:rPr>
              <a:t>langkahnya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meliputi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membuka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aplikasi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peta</a:t>
            </a:r>
            <a:r>
              <a:rPr lang="en-US" sz="2100" dirty="0">
                <a:latin typeface="+mj-lt"/>
              </a:rPr>
              <a:t>, </a:t>
            </a:r>
            <a:r>
              <a:rPr lang="en-US" sz="2100" dirty="0" err="1">
                <a:latin typeface="+mj-lt"/>
              </a:rPr>
              <a:t>memasukkan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alamat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tujuan</a:t>
            </a:r>
            <a:r>
              <a:rPr lang="en-US" sz="2100" dirty="0">
                <a:latin typeface="+mj-lt"/>
              </a:rPr>
              <a:t>, </a:t>
            </a:r>
            <a:r>
              <a:rPr lang="en-US" sz="2100" dirty="0" err="1">
                <a:latin typeface="+mj-lt"/>
              </a:rPr>
              <a:t>lalu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mengikuti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petunjuk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arah</a:t>
            </a:r>
            <a:r>
              <a:rPr lang="en-US" sz="2100" dirty="0">
                <a:latin typeface="+mj-lt"/>
              </a:rPr>
              <a:t> yang </a:t>
            </a:r>
            <a:r>
              <a:rPr lang="en-US" sz="2100" dirty="0" err="1">
                <a:latin typeface="+mj-lt"/>
              </a:rPr>
              <a:t>diberikan</a:t>
            </a:r>
            <a:r>
              <a:rPr lang="en-US" sz="2100" dirty="0">
                <a:latin typeface="+mj-lt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b="1" dirty="0" err="1">
                <a:latin typeface="+mj-lt"/>
              </a:rPr>
              <a:t>Mesin</a:t>
            </a:r>
            <a:r>
              <a:rPr lang="en-US" sz="2100" b="1" dirty="0">
                <a:latin typeface="+mj-lt"/>
              </a:rPr>
              <a:t> </a:t>
            </a:r>
            <a:r>
              <a:rPr lang="en-US" sz="2100" b="1" dirty="0" err="1">
                <a:latin typeface="+mj-lt"/>
              </a:rPr>
              <a:t>pencari</a:t>
            </a:r>
            <a:r>
              <a:rPr lang="en-US" sz="2100" b="1" dirty="0">
                <a:latin typeface="+mj-lt"/>
              </a:rPr>
              <a:t>: </a:t>
            </a:r>
            <a:r>
              <a:rPr lang="en-US" sz="2100" dirty="0">
                <a:latin typeface="+mj-lt"/>
              </a:rPr>
              <a:t>Algoritma </a:t>
            </a:r>
            <a:r>
              <a:rPr lang="en-US" sz="2100" dirty="0" err="1">
                <a:latin typeface="+mj-lt"/>
              </a:rPr>
              <a:t>digunakan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untuk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mengurutkan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hasil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pencarian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berdasarkan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relevansi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dengan</a:t>
            </a:r>
            <a:r>
              <a:rPr lang="en-US" sz="2100" dirty="0">
                <a:latin typeface="+mj-lt"/>
              </a:rPr>
              <a:t> kata </a:t>
            </a:r>
            <a:r>
              <a:rPr lang="en-US" sz="2100" dirty="0" err="1">
                <a:latin typeface="+mj-lt"/>
              </a:rPr>
              <a:t>kunci</a:t>
            </a:r>
            <a:r>
              <a:rPr lang="en-US" sz="2100" dirty="0">
                <a:latin typeface="+mj-lt"/>
              </a:rPr>
              <a:t> yang </a:t>
            </a:r>
            <a:r>
              <a:rPr lang="en-US" sz="2100" dirty="0" err="1">
                <a:latin typeface="+mj-lt"/>
              </a:rPr>
              <a:t>dimasukkan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pengguna</a:t>
            </a:r>
            <a:r>
              <a:rPr lang="en-US" sz="2100" dirty="0">
                <a:latin typeface="+mj-lt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b="1" dirty="0" err="1">
                <a:latin typeface="+mj-lt"/>
              </a:rPr>
              <a:t>Rekomendasi</a:t>
            </a:r>
            <a:r>
              <a:rPr lang="en-US" sz="2100" b="1" dirty="0">
                <a:latin typeface="+mj-lt"/>
              </a:rPr>
              <a:t> YouTube: </a:t>
            </a:r>
            <a:r>
              <a:rPr lang="en-US" sz="2100" dirty="0" err="1">
                <a:latin typeface="+mj-lt"/>
              </a:rPr>
              <a:t>Sistem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menggunakan</a:t>
            </a:r>
            <a:r>
              <a:rPr lang="en-US" sz="2100" dirty="0">
                <a:latin typeface="+mj-lt"/>
              </a:rPr>
              <a:t> algoritma </a:t>
            </a:r>
            <a:r>
              <a:rPr lang="en-US" sz="2100" dirty="0" err="1">
                <a:latin typeface="+mj-lt"/>
              </a:rPr>
              <a:t>untuk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menganalisis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riwayat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tontonan</a:t>
            </a:r>
            <a:r>
              <a:rPr lang="en-US" sz="2100" dirty="0">
                <a:latin typeface="+mj-lt"/>
              </a:rPr>
              <a:t> Anda dan </a:t>
            </a:r>
            <a:r>
              <a:rPr lang="en-US" sz="2100" dirty="0" err="1">
                <a:latin typeface="+mj-lt"/>
              </a:rPr>
              <a:t>menyajikan</a:t>
            </a:r>
            <a:r>
              <a:rPr lang="en-US" sz="2100" dirty="0">
                <a:latin typeface="+mj-lt"/>
              </a:rPr>
              <a:t> video yang </a:t>
            </a:r>
            <a:r>
              <a:rPr lang="en-US" sz="2100" dirty="0" err="1">
                <a:latin typeface="+mj-lt"/>
              </a:rPr>
              <a:t>kemungkinan</a:t>
            </a:r>
            <a:r>
              <a:rPr lang="en-US" sz="2100" dirty="0">
                <a:latin typeface="+mj-lt"/>
              </a:rPr>
              <a:t> </a:t>
            </a:r>
            <a:r>
              <a:rPr lang="en-US" sz="2100" dirty="0" err="1">
                <a:latin typeface="+mj-lt"/>
              </a:rPr>
              <a:t>besar</a:t>
            </a:r>
            <a:r>
              <a:rPr lang="en-US" sz="2100" dirty="0">
                <a:latin typeface="+mj-lt"/>
              </a:rPr>
              <a:t> Anda </a:t>
            </a:r>
            <a:r>
              <a:rPr lang="en-US" sz="2100" dirty="0" err="1">
                <a:latin typeface="+mj-lt"/>
              </a:rPr>
              <a:t>sukai</a:t>
            </a:r>
            <a:r>
              <a:rPr lang="en-US" sz="2100" dirty="0">
                <a:latin typeface="+mj-lt"/>
              </a:rPr>
              <a:t>.</a:t>
            </a:r>
          </a:p>
        </p:txBody>
      </p:sp>
      <p:pic>
        <p:nvPicPr>
          <p:cNvPr id="7" name="Picture Placeholder 6" descr="A group of people holding their thumbs up&#10;&#10;Description automatically generated">
            <a:extLst>
              <a:ext uri="{FF2B5EF4-FFF2-40B4-BE49-F238E27FC236}">
                <a16:creationId xmlns:a16="http://schemas.microsoft.com/office/drawing/2014/main" id="{D4AF7942-ADE3-A337-F4FF-1A304F89A68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" r="134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6078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4FD66-FC49-5003-C882-18727EB2E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Gerbang</a:t>
            </a:r>
            <a:r>
              <a:rPr lang="en-US" dirty="0"/>
              <a:t> Logika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9C432-3DA0-1F11-1574-2D88BF0CA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ID" dirty="0"/>
              <a:t>	</a:t>
            </a:r>
            <a:r>
              <a:rPr lang="en-ID" sz="2400" dirty="0" err="1"/>
              <a:t>Gerbang</a:t>
            </a:r>
            <a:r>
              <a:rPr lang="en-ID" sz="2400" dirty="0"/>
              <a:t> </a:t>
            </a:r>
            <a:r>
              <a:rPr lang="en-ID" sz="2400" dirty="0" err="1"/>
              <a:t>logika</a:t>
            </a:r>
            <a:r>
              <a:rPr lang="en-ID" sz="2400" dirty="0"/>
              <a:t> </a:t>
            </a:r>
            <a:r>
              <a:rPr lang="en-ID" sz="2400" dirty="0" err="1"/>
              <a:t>berdasarkan</a:t>
            </a:r>
            <a:r>
              <a:rPr lang="en-ID" sz="2400" dirty="0"/>
              <a:t>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bilangan</a:t>
            </a:r>
            <a:r>
              <a:rPr lang="en-ID" sz="2400" dirty="0"/>
              <a:t> biner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bilangan</a:t>
            </a:r>
            <a:r>
              <a:rPr lang="en-ID" sz="2400" dirty="0"/>
              <a:t> yang </a:t>
            </a:r>
            <a:r>
              <a:rPr lang="en-ID" sz="2400" dirty="0" err="1"/>
              <a:t>hanya</a:t>
            </a:r>
            <a:r>
              <a:rPr lang="en-ID" sz="2400" dirty="0"/>
              <a:t> </a:t>
            </a:r>
            <a:r>
              <a:rPr lang="en-ID" sz="2400" dirty="0" err="1"/>
              <a:t>mempunyai</a:t>
            </a:r>
            <a:r>
              <a:rPr lang="en-ID" sz="2400" dirty="0"/>
              <a:t> 2 </a:t>
            </a:r>
            <a:r>
              <a:rPr lang="en-ID" sz="2400" dirty="0" err="1"/>
              <a:t>kode</a:t>
            </a:r>
            <a:r>
              <a:rPr lang="en-ID" sz="2400" dirty="0"/>
              <a:t> </a:t>
            </a:r>
            <a:r>
              <a:rPr lang="en-ID" sz="2400" dirty="0" err="1"/>
              <a:t>simbol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0 dan 1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memakai</a:t>
            </a:r>
            <a:r>
              <a:rPr lang="en-ID" sz="2400" dirty="0"/>
              <a:t> Teori </a:t>
            </a:r>
            <a:r>
              <a:rPr lang="en-ID" sz="2400" dirty="0" err="1"/>
              <a:t>Aljabar</a:t>
            </a:r>
            <a:r>
              <a:rPr lang="en-ID" sz="2400" dirty="0"/>
              <a:t> Boolean.</a:t>
            </a:r>
          </a:p>
          <a:p>
            <a:endParaRPr lang="en-ID" sz="2400" dirty="0"/>
          </a:p>
          <a:p>
            <a:r>
              <a:rPr lang="en-ID" sz="2400" b="1" dirty="0" err="1"/>
              <a:t>Fungsi</a:t>
            </a:r>
            <a:r>
              <a:rPr lang="en-ID" sz="2400" b="1" dirty="0"/>
              <a:t> </a:t>
            </a:r>
            <a:r>
              <a:rPr lang="en-ID" sz="2400" b="1" dirty="0" err="1"/>
              <a:t>gerbang</a:t>
            </a:r>
            <a:r>
              <a:rPr lang="en-ID" sz="2400" b="1" dirty="0"/>
              <a:t> </a:t>
            </a:r>
            <a:r>
              <a:rPr lang="en-ID" sz="2400" b="1" dirty="0" err="1"/>
              <a:t>logika</a:t>
            </a:r>
            <a:r>
              <a:rPr lang="en-ID" sz="2400" b="1" dirty="0"/>
              <a:t>: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fungsi</a:t>
            </a:r>
            <a:r>
              <a:rPr lang="en-ID" sz="2400" dirty="0"/>
              <a:t> </a:t>
            </a:r>
            <a:r>
              <a:rPr lang="en-ID" sz="2400" dirty="0" err="1"/>
              <a:t>logika</a:t>
            </a:r>
            <a:r>
              <a:rPr lang="en-ID" sz="2400" dirty="0"/>
              <a:t> </a:t>
            </a:r>
            <a:r>
              <a:rPr lang="en-ID" sz="2400" dirty="0" err="1"/>
              <a:t>dasar</a:t>
            </a:r>
            <a:r>
              <a:rPr lang="en-ID" sz="2400" dirty="0"/>
              <a:t> </a:t>
            </a:r>
            <a:r>
              <a:rPr lang="en-ID" sz="2400" dirty="0" err="1"/>
              <a:t>terdiri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2 input </a:t>
            </a:r>
            <a:r>
              <a:rPr lang="en-ID" sz="2400" dirty="0" err="1"/>
              <a:t>nilai</a:t>
            </a:r>
            <a:r>
              <a:rPr lang="en-ID" sz="2400" dirty="0"/>
              <a:t> biner dan output </a:t>
            </a:r>
            <a:r>
              <a:rPr lang="en-ID" sz="2400" dirty="0" err="1"/>
              <a:t>berupa</a:t>
            </a:r>
            <a:r>
              <a:rPr lang="en-ID" sz="2400" dirty="0"/>
              <a:t> </a:t>
            </a:r>
            <a:r>
              <a:rPr lang="en-ID" sz="2400" dirty="0" err="1"/>
              <a:t>bilangan</a:t>
            </a:r>
            <a:r>
              <a:rPr lang="en-ID" sz="2400" dirty="0"/>
              <a:t> 1, 0 </a:t>
            </a:r>
            <a:r>
              <a:rPr lang="en-ID" sz="2400" dirty="0" err="1"/>
              <a:t>atau</a:t>
            </a:r>
            <a:r>
              <a:rPr lang="en-ID" sz="2400" dirty="0"/>
              <a:t> yang </a:t>
            </a:r>
            <a:r>
              <a:rPr lang="en-ID" sz="2400" dirty="0" err="1"/>
              <a:t>sering</a:t>
            </a:r>
            <a:r>
              <a:rPr lang="en-ID" sz="2400" dirty="0"/>
              <a:t> </a:t>
            </a:r>
            <a:r>
              <a:rPr lang="en-ID" sz="2400" dirty="0" err="1"/>
              <a:t>dikenal</a:t>
            </a:r>
            <a:r>
              <a:rPr lang="en-ID" sz="2400" dirty="0"/>
              <a:t> </a:t>
            </a:r>
            <a:r>
              <a:rPr lang="en-ID" sz="2400" dirty="0" err="1"/>
              <a:t>sebutan</a:t>
            </a:r>
            <a:r>
              <a:rPr lang="en-ID" sz="2400" dirty="0"/>
              <a:t> true </a:t>
            </a:r>
            <a:r>
              <a:rPr lang="en-ID" sz="2400" dirty="0" err="1"/>
              <a:t>atau</a:t>
            </a:r>
            <a:r>
              <a:rPr lang="en-ID" sz="2400" dirty="0"/>
              <a:t> false.</a:t>
            </a:r>
          </a:p>
          <a:p>
            <a:endParaRPr lang="en-ID" dirty="0"/>
          </a:p>
        </p:txBody>
      </p:sp>
      <p:pic>
        <p:nvPicPr>
          <p:cNvPr id="6152" name="Picture 8" descr="Perancangan dan Simulasi Rangkaian Logika Kombinasional Menggunakan  Gerbang: Analisis Ekstensif - Quarktwin Electronic Parts">
            <a:extLst>
              <a:ext uri="{FF2B5EF4-FFF2-40B4-BE49-F238E27FC236}">
                <a16:creationId xmlns:a16="http://schemas.microsoft.com/office/drawing/2014/main" id="{EBB556B8-113C-F2BA-9DC0-873441708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97" y="1872575"/>
            <a:ext cx="5567363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03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1366A6-1334-4344-C501-9CC467523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Gerbang</a:t>
            </a:r>
            <a:r>
              <a:rPr lang="en-US" dirty="0"/>
              <a:t> Logika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1749A-8E74-E368-967F-AE6C8992B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18477" y="1566153"/>
            <a:ext cx="5589344" cy="487355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dirty="0" err="1"/>
              <a:t>Definisi</a:t>
            </a:r>
            <a:r>
              <a:rPr lang="en-ID" dirty="0"/>
              <a:t>: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rangkaian</a:t>
            </a:r>
            <a:r>
              <a:rPr lang="en-ID" dirty="0"/>
              <a:t> digital yang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pada </a:t>
            </a:r>
            <a:r>
              <a:rPr lang="en-ID" dirty="0" err="1"/>
              <a:t>sinyal</a:t>
            </a:r>
            <a:r>
              <a:rPr lang="en-ID" dirty="0"/>
              <a:t> biner.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dirty="0" err="1"/>
              <a:t>Prinsip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: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sinyal</a:t>
            </a:r>
            <a:r>
              <a:rPr lang="en-ID" dirty="0"/>
              <a:t> biner 1 (</a:t>
            </a:r>
            <a:r>
              <a:rPr lang="en-ID" dirty="0" err="1"/>
              <a:t>benar</a:t>
            </a:r>
            <a:r>
              <a:rPr lang="en-ID" dirty="0"/>
              <a:t>/true) dan 0 (salah/false)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sinyal</a:t>
            </a:r>
            <a:r>
              <a:rPr lang="en-ID" dirty="0"/>
              <a:t> output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Boolean.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dirty="0"/>
              <a:t>Tujuan: </a:t>
            </a:r>
            <a:r>
              <a:rPr lang="en-ID" dirty="0" err="1"/>
              <a:t>Mengontrol</a:t>
            </a:r>
            <a:r>
              <a:rPr lang="en-ID" dirty="0"/>
              <a:t> </a:t>
            </a:r>
            <a:r>
              <a:rPr lang="en-ID" dirty="0" err="1"/>
              <a:t>arus</a:t>
            </a:r>
            <a:r>
              <a:rPr lang="en-ID" dirty="0"/>
              <a:t> </a:t>
            </a:r>
            <a:r>
              <a:rPr lang="en-ID" dirty="0" err="1"/>
              <a:t>listrik</a:t>
            </a:r>
            <a:r>
              <a:rPr lang="en-ID" dirty="0"/>
              <a:t> dan </a:t>
            </a:r>
            <a:r>
              <a:rPr lang="en-ID" dirty="0" err="1"/>
              <a:t>memproses</a:t>
            </a:r>
            <a:r>
              <a:rPr lang="en-ID" dirty="0"/>
              <a:t> data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dan </a:t>
            </a:r>
            <a:r>
              <a:rPr lang="en-ID" dirty="0" err="1"/>
              <a:t>eksekusi</a:t>
            </a:r>
            <a:r>
              <a:rPr lang="en-ID" dirty="0"/>
              <a:t> </a:t>
            </a:r>
            <a:r>
              <a:rPr lang="en-ID" dirty="0" err="1"/>
              <a:t>perintah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elektronik</a:t>
            </a:r>
            <a:r>
              <a:rPr lang="en-ID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dirty="0"/>
              <a:t>Jenis-</a:t>
            </a:r>
            <a:r>
              <a:rPr lang="en-ID" dirty="0" err="1"/>
              <a:t>jenis</a:t>
            </a:r>
            <a:r>
              <a:rPr lang="en-ID" dirty="0"/>
              <a:t> Umum: Meliputi </a:t>
            </a:r>
            <a:r>
              <a:rPr lang="en-ID" dirty="0" err="1"/>
              <a:t>gerbang</a:t>
            </a:r>
            <a:r>
              <a:rPr lang="en-ID" dirty="0"/>
              <a:t> AND, OR, dan NOT,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kombinasi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NAND, NOR, dan XOR.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: </a:t>
            </a:r>
            <a:r>
              <a:rPr lang="en-ID" dirty="0" err="1"/>
              <a:t>Ditemukan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mikroprosesor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,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kontrol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, dan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komunikasi</a:t>
            </a:r>
            <a:r>
              <a:rPr lang="en-ID" dirty="0"/>
              <a:t> digital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pemrosesan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. </a:t>
            </a:r>
          </a:p>
        </p:txBody>
      </p:sp>
      <p:pic>
        <p:nvPicPr>
          <p:cNvPr id="8194" name="Picture 2" descr="Memahami Gerbang Logika dalam Video Game | oleh Myk Eff | Memahami Game |  Medium">
            <a:extLst>
              <a:ext uri="{FF2B5EF4-FFF2-40B4-BE49-F238E27FC236}">
                <a16:creationId xmlns:a16="http://schemas.microsoft.com/office/drawing/2014/main" id="{4ABA0CA1-3C7B-18F9-4025-130C3D705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14" y="2070665"/>
            <a:ext cx="5341093" cy="30520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16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8E7A61-6759-1F8E-2409-4F6067200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3054" y="2412266"/>
            <a:ext cx="2294033" cy="2033466"/>
          </a:xfrm>
        </p:spPr>
        <p:txBody>
          <a:bodyPr>
            <a:normAutofit/>
          </a:bodyPr>
          <a:lstStyle/>
          <a:p>
            <a:r>
              <a:rPr lang="en-ID" dirty="0"/>
              <a:t>Tabel Kebenaran </a:t>
            </a:r>
            <a:r>
              <a:rPr lang="en-ID" dirty="0" err="1"/>
              <a:t>Gerbang</a:t>
            </a:r>
            <a:r>
              <a:rPr lang="en-ID" dirty="0"/>
              <a:t> Logika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662E33-D01E-44AC-628A-3A5D425B1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64" y="1333499"/>
            <a:ext cx="7467599" cy="4191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860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2DBC-BD4B-BA9B-F793-858A0CFC0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Keterangan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B8DD4-9E6E-25C1-BF78-70E241B46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Gerbang</a:t>
            </a:r>
            <a:r>
              <a:rPr lang="en-ID" dirty="0"/>
              <a:t> AND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Logika 1, Jika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masukan</a:t>
            </a:r>
            <a:r>
              <a:rPr lang="en-ID" dirty="0"/>
              <a:t> </a:t>
            </a:r>
            <a:r>
              <a:rPr lang="en-ID" dirty="0" err="1"/>
              <a:t>bernilai</a:t>
            </a:r>
            <a:r>
              <a:rPr lang="en-ID" dirty="0"/>
              <a:t> Logika 1 dan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Logika 0, Jika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masukan</a:t>
            </a:r>
            <a:r>
              <a:rPr lang="en-ID" dirty="0"/>
              <a:t> </a:t>
            </a:r>
            <a:r>
              <a:rPr lang="en-ID" dirty="0" err="1"/>
              <a:t>bernilai</a:t>
            </a:r>
            <a:r>
              <a:rPr lang="en-ID" dirty="0"/>
              <a:t> Logika 0.</a:t>
            </a:r>
          </a:p>
          <a:p>
            <a:r>
              <a:rPr lang="en-ID" dirty="0" err="1"/>
              <a:t>Gerbang</a:t>
            </a:r>
            <a:r>
              <a:rPr lang="en-ID" dirty="0"/>
              <a:t> OR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Logika 1, Jika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masukan</a:t>
            </a:r>
            <a:r>
              <a:rPr lang="en-ID" dirty="0"/>
              <a:t> </a:t>
            </a:r>
            <a:r>
              <a:rPr lang="en-ID" dirty="0" err="1"/>
              <a:t>bernilai</a:t>
            </a:r>
            <a:r>
              <a:rPr lang="en-ID" dirty="0"/>
              <a:t> Logika 1 dan Jika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Logika 0,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masukan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bernilai</a:t>
            </a:r>
            <a:r>
              <a:rPr lang="en-ID" dirty="0"/>
              <a:t> Logika 0.</a:t>
            </a:r>
          </a:p>
          <a:p>
            <a:r>
              <a:rPr lang="en-US" dirty="0" err="1"/>
              <a:t>Gerbang</a:t>
            </a:r>
            <a:r>
              <a:rPr lang="en-US" dirty="0"/>
              <a:t> NOT </a:t>
            </a:r>
            <a:r>
              <a:rPr lang="en-US" dirty="0" err="1"/>
              <a:t>disebut</a:t>
            </a:r>
            <a:r>
              <a:rPr lang="en-US" dirty="0"/>
              <a:t> juga </a:t>
            </a:r>
            <a:r>
              <a:rPr lang="en-US" dirty="0" err="1"/>
              <a:t>dengan</a:t>
            </a:r>
            <a:r>
              <a:rPr lang="en-US" dirty="0"/>
              <a:t> Inverter,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yang </a:t>
            </a:r>
            <a:r>
              <a:rPr lang="en-US" dirty="0" err="1"/>
              <a:t>berlawanan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masukannya;Jika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Logika 0,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Logika 1.</a:t>
            </a:r>
          </a:p>
          <a:p>
            <a:r>
              <a:rPr lang="en-US" dirty="0" err="1"/>
              <a:t>Gerbang</a:t>
            </a:r>
            <a:r>
              <a:rPr lang="en-US" dirty="0"/>
              <a:t> NAND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kompinasi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gerbang</a:t>
            </a:r>
            <a:r>
              <a:rPr lang="en-US" dirty="0"/>
              <a:t> AND dan </a:t>
            </a:r>
            <a:r>
              <a:rPr lang="en-US" dirty="0" err="1"/>
              <a:t>gerbang</a:t>
            </a:r>
            <a:r>
              <a:rPr lang="en-US" dirty="0"/>
              <a:t> NOT yang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kebalikan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keluaram</a:t>
            </a:r>
            <a:r>
              <a:rPr lang="en-US" dirty="0"/>
              <a:t> </a:t>
            </a:r>
            <a:r>
              <a:rPr lang="en-US" dirty="0" err="1"/>
              <a:t>gerbang</a:t>
            </a:r>
            <a:r>
              <a:rPr lang="en-US" dirty="0"/>
              <a:t> AND; </a:t>
            </a:r>
            <a:r>
              <a:rPr lang="en-US" dirty="0" err="1"/>
              <a:t>Gerbang</a:t>
            </a:r>
            <a:r>
              <a:rPr lang="en-US" dirty="0"/>
              <a:t> NAND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Logika o, Jika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masukan</a:t>
            </a:r>
            <a:r>
              <a:rPr lang="en-US" dirty="0"/>
              <a:t> pada Logika 1 dan Jika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masukan</a:t>
            </a:r>
            <a:r>
              <a:rPr lang="en-US" dirty="0"/>
              <a:t> yang </a:t>
            </a:r>
            <a:r>
              <a:rPr lang="en-US" dirty="0" err="1"/>
              <a:t>bernilai</a:t>
            </a:r>
            <a:r>
              <a:rPr lang="en-US" dirty="0"/>
              <a:t> Logika 0,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Logika 1.</a:t>
            </a:r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278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0607-F5D6-1C8B-48A6-33B30F7D5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Keterangan</a:t>
            </a:r>
            <a:r>
              <a:rPr lang="en-US" dirty="0"/>
              <a:t>(2)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1DDE2-EE84-5BA7-F31C-2A2311674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+mj-lt"/>
              <a:buAutoNum type="arabicPeriod" startAt="5"/>
            </a:pPr>
            <a:r>
              <a:rPr lang="en-ID" dirty="0" err="1"/>
              <a:t>Gerbang</a:t>
            </a:r>
            <a:r>
              <a:rPr lang="en-ID" dirty="0"/>
              <a:t> NOR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kombinasi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gerbang</a:t>
            </a:r>
            <a:r>
              <a:rPr lang="en-ID" dirty="0"/>
              <a:t> OR dan </a:t>
            </a:r>
            <a:r>
              <a:rPr lang="en-ID" dirty="0" err="1"/>
              <a:t>gerbang</a:t>
            </a:r>
            <a:r>
              <a:rPr lang="en-ID" dirty="0"/>
              <a:t> NOT, yang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kebalikan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</a:t>
            </a:r>
            <a:r>
              <a:rPr lang="en-ID" dirty="0" err="1"/>
              <a:t>gerbang</a:t>
            </a:r>
            <a:r>
              <a:rPr lang="en-ID" dirty="0"/>
              <a:t> </a:t>
            </a:r>
            <a:r>
              <a:rPr lang="en-ID" dirty="0" err="1"/>
              <a:t>OR;Gerbang</a:t>
            </a:r>
            <a:r>
              <a:rPr lang="en-ID" dirty="0"/>
              <a:t> NOR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Logika 0, Jika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masukan</a:t>
            </a:r>
            <a:r>
              <a:rPr lang="en-ID" dirty="0"/>
              <a:t> </a:t>
            </a:r>
            <a:r>
              <a:rPr lang="en-ID" dirty="0" err="1"/>
              <a:t>bernilai</a:t>
            </a:r>
            <a:r>
              <a:rPr lang="en-ID" dirty="0"/>
              <a:t> Logika 1 dan Jika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mendapatkan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Logika 1,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masukan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bernilai</a:t>
            </a:r>
            <a:r>
              <a:rPr lang="en-ID" dirty="0"/>
              <a:t> Logika 0.</a:t>
            </a:r>
          </a:p>
          <a:p>
            <a:pPr>
              <a:buAutoNum type="arabicPeriod" startAt="5"/>
            </a:pPr>
            <a:r>
              <a:rPr lang="en-ID" dirty="0"/>
              <a:t>X-OR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singkatan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Exclusive OR, yang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2 </a:t>
            </a:r>
            <a:r>
              <a:rPr lang="en-ID" dirty="0" err="1"/>
              <a:t>masukan</a:t>
            </a:r>
            <a:r>
              <a:rPr lang="en-ID" dirty="0"/>
              <a:t> dan 1 </a:t>
            </a:r>
            <a:r>
              <a:rPr lang="en-ID" dirty="0" err="1"/>
              <a:t>keluaran</a:t>
            </a:r>
            <a:r>
              <a:rPr lang="en-ID" dirty="0"/>
              <a:t> Logika.</a:t>
            </a:r>
          </a:p>
          <a:p>
            <a:pPr>
              <a:buAutoNum type="arabicPeriod" startAt="5"/>
            </a:pPr>
            <a:r>
              <a:rPr lang="en-ID" dirty="0" err="1"/>
              <a:t>Gerbang</a:t>
            </a:r>
            <a:r>
              <a:rPr lang="en-ID" dirty="0"/>
              <a:t> X-OR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Logika 1, Jika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masukan-masukannya</a:t>
            </a:r>
            <a:r>
              <a:rPr lang="en-ID" dirty="0"/>
              <a:t> </a:t>
            </a:r>
            <a:r>
              <a:rPr lang="en-ID" dirty="0" err="1"/>
              <a:t>mempunyai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Logika yang </a:t>
            </a:r>
            <a:r>
              <a:rPr lang="en-ID" dirty="0" err="1"/>
              <a:t>berbeda</a:t>
            </a:r>
            <a:r>
              <a:rPr lang="en-ID" dirty="0"/>
              <a:t>. Jika </a:t>
            </a:r>
            <a:r>
              <a:rPr lang="en-ID" dirty="0" err="1"/>
              <a:t>nilai</a:t>
            </a:r>
            <a:r>
              <a:rPr lang="en-ID" dirty="0"/>
              <a:t> Logika </a:t>
            </a:r>
            <a:r>
              <a:rPr lang="en-ID" dirty="0" err="1"/>
              <a:t>Inputnya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Logika 0.</a:t>
            </a:r>
          </a:p>
          <a:p>
            <a:pPr>
              <a:buAutoNum type="arabicPeriod" startAt="5"/>
            </a:pPr>
            <a:r>
              <a:rPr lang="en-ID" dirty="0"/>
              <a:t>X-NOR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singkatan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Exclusive NOR dan </a:t>
            </a:r>
            <a:r>
              <a:rPr lang="en-ID" dirty="0" err="1"/>
              <a:t>kombinasi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Gerbang</a:t>
            </a:r>
            <a:r>
              <a:rPr lang="en-ID" dirty="0"/>
              <a:t> X-OR dan </a:t>
            </a:r>
            <a:r>
              <a:rPr lang="en-ID" dirty="0" err="1"/>
              <a:t>Gerbang</a:t>
            </a:r>
            <a:r>
              <a:rPr lang="en-ID" dirty="0"/>
              <a:t> </a:t>
            </a:r>
            <a:r>
              <a:rPr lang="en-ID" dirty="0" err="1"/>
              <a:t>NOT;Gerbang</a:t>
            </a:r>
            <a:r>
              <a:rPr lang="en-ID" dirty="0"/>
              <a:t> X-NOR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Logika 1, Jika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masukan</a:t>
            </a:r>
            <a:r>
              <a:rPr lang="en-ID" dirty="0"/>
              <a:t> </a:t>
            </a:r>
            <a:r>
              <a:rPr lang="en-ID" dirty="0" err="1"/>
              <a:t>bernilai</a:t>
            </a:r>
            <a:r>
              <a:rPr lang="en-ID" dirty="0"/>
              <a:t> Logika yang </a:t>
            </a:r>
            <a:r>
              <a:rPr lang="en-ID" dirty="0" err="1"/>
              <a:t>sama</a:t>
            </a:r>
            <a:r>
              <a:rPr lang="en-ID" dirty="0"/>
              <a:t> dan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keluaran</a:t>
            </a:r>
            <a:r>
              <a:rPr lang="en-ID" dirty="0"/>
              <a:t> Logika 0, Jika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Masukan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Inputnya</a:t>
            </a:r>
            <a:r>
              <a:rPr lang="en-ID" dirty="0"/>
              <a:t> </a:t>
            </a:r>
            <a:r>
              <a:rPr lang="en-ID" dirty="0" err="1"/>
              <a:t>bernilai</a:t>
            </a:r>
            <a:r>
              <a:rPr lang="en-ID" dirty="0"/>
              <a:t> Logika yang </a:t>
            </a:r>
            <a:r>
              <a:rPr lang="en-ID" dirty="0" err="1"/>
              <a:t>berbeda</a:t>
            </a:r>
            <a:r>
              <a:rPr lang="en-ID" dirty="0"/>
              <a:t>.</a:t>
            </a:r>
          </a:p>
          <a:p>
            <a:pPr>
              <a:buAutoNum type="arabicPeriod" startAt="5"/>
            </a:pPr>
            <a:endParaRPr lang="en-ID" dirty="0"/>
          </a:p>
          <a:p>
            <a:pPr>
              <a:buAutoNum type="arabicPeriod" startAt="5"/>
            </a:pPr>
            <a:endParaRPr lang="en-ID" dirty="0"/>
          </a:p>
          <a:p>
            <a:pPr>
              <a:buAutoNum type="arabicPeriod" startAt="5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7344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CD313A-13AE-38A8-2C56-5C7B1394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Penerapan</a:t>
            </a:r>
            <a:r>
              <a:rPr lang="en-US" dirty="0"/>
              <a:t> </a:t>
            </a:r>
            <a:r>
              <a:rPr lang="en-US" dirty="0" err="1"/>
              <a:t>Gerbang</a:t>
            </a:r>
            <a:r>
              <a:rPr lang="en-US" dirty="0"/>
              <a:t> Logika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FD712-E346-76C1-00E2-89AC2041F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b="1" dirty="0" err="1"/>
              <a:t>Komputer</a:t>
            </a:r>
            <a:r>
              <a:rPr lang="en-ID" b="1" dirty="0"/>
              <a:t> dan </a:t>
            </a:r>
            <a:r>
              <a:rPr lang="en-ID" b="1" dirty="0" err="1"/>
              <a:t>Perangkat</a:t>
            </a:r>
            <a:r>
              <a:rPr lang="en-ID" b="1" dirty="0"/>
              <a:t> </a:t>
            </a:r>
            <a:r>
              <a:rPr lang="en-ID" b="1" dirty="0" err="1"/>
              <a:t>Keras</a:t>
            </a:r>
            <a:r>
              <a:rPr lang="en-ID" b="1" dirty="0"/>
              <a:t>: </a:t>
            </a:r>
            <a:r>
              <a:rPr lang="en-ID" dirty="0"/>
              <a:t>Dasar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prosesor</a:t>
            </a:r>
            <a:r>
              <a:rPr lang="en-ID" dirty="0"/>
              <a:t> dan </a:t>
            </a:r>
            <a:r>
              <a:rPr lang="en-ID" dirty="0" err="1"/>
              <a:t>sirkuit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dan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digital </a:t>
            </a:r>
            <a:r>
              <a:rPr lang="en-ID" dirty="0" err="1"/>
              <a:t>lainnya</a:t>
            </a:r>
            <a:r>
              <a:rPr lang="en-ID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b="1" dirty="0" err="1"/>
              <a:t>Sistem</a:t>
            </a:r>
            <a:r>
              <a:rPr lang="en-ID" b="1" dirty="0"/>
              <a:t> </a:t>
            </a:r>
            <a:r>
              <a:rPr lang="en-ID" b="1" dirty="0" err="1"/>
              <a:t>Kontrol</a:t>
            </a:r>
            <a:r>
              <a:rPr lang="en-ID" b="1" dirty="0"/>
              <a:t> Industri: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otomasi</a:t>
            </a:r>
            <a:r>
              <a:rPr lang="en-ID" dirty="0"/>
              <a:t> dan </a:t>
            </a:r>
            <a:r>
              <a:rPr lang="en-ID" dirty="0" err="1"/>
              <a:t>kontrol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proses </a:t>
            </a:r>
            <a:r>
              <a:rPr lang="en-ID" dirty="0" err="1"/>
              <a:t>industri</a:t>
            </a:r>
            <a:r>
              <a:rPr lang="en-ID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b="1" dirty="0" err="1"/>
              <a:t>Sistem</a:t>
            </a:r>
            <a:r>
              <a:rPr lang="en-ID" b="1" dirty="0"/>
              <a:t> </a:t>
            </a:r>
            <a:r>
              <a:rPr lang="en-ID" b="1" dirty="0" err="1"/>
              <a:t>Keamanan</a:t>
            </a:r>
            <a:r>
              <a:rPr lang="en-ID" b="1" dirty="0"/>
              <a:t>: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alarm dan </a:t>
            </a:r>
            <a:r>
              <a:rPr lang="en-ID" dirty="0" err="1"/>
              <a:t>keamanan</a:t>
            </a:r>
            <a:r>
              <a:rPr lang="en-ID" dirty="0"/>
              <a:t>. </a:t>
            </a:r>
          </a:p>
        </p:txBody>
      </p:sp>
      <p:pic>
        <p:nvPicPr>
          <p:cNvPr id="7174" name="Picture 6" descr="Gerbang Logika Dasar Pemrograman dan Logika">
            <a:extLst>
              <a:ext uri="{FF2B5EF4-FFF2-40B4-BE49-F238E27FC236}">
                <a16:creationId xmlns:a16="http://schemas.microsoft.com/office/drawing/2014/main" id="{D9D3B06E-49A7-D767-982B-06AD6D1E1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044" y="1495457"/>
            <a:ext cx="6260875" cy="41269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09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6330"/>
            <a:ext cx="10515600" cy="81153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+mj-lt"/>
              </a:rPr>
              <a:t>Any Question</a:t>
            </a:r>
          </a:p>
        </p:txBody>
      </p:sp>
      <p:pic>
        <p:nvPicPr>
          <p:cNvPr id="9" name="Picture 8" descr="A group of colorful bubbles with question marks&#10;&#10;Description automatically generated">
            <a:extLst>
              <a:ext uri="{FF2B5EF4-FFF2-40B4-BE49-F238E27FC236}">
                <a16:creationId xmlns:a16="http://schemas.microsoft.com/office/drawing/2014/main" id="{D0AF8578-230F-23BC-7BFF-398FFA9AF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323" y="1719182"/>
            <a:ext cx="4603353" cy="460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8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Kasih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26637A-8ABF-FB75-F840-063A92018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Nilai </a:t>
            </a:r>
            <a:r>
              <a:rPr lang="en-US" dirty="0" err="1"/>
              <a:t>Tambah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91D5A2-1EFC-32E6-D11A-70F6E34464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20260801113 – </a:t>
            </a:r>
            <a:r>
              <a:rPr lang="en-US" dirty="0" err="1" smtClean="0"/>
              <a:t>Cheryne</a:t>
            </a:r>
            <a:r>
              <a:rPr lang="en-US" dirty="0" smtClean="0"/>
              <a:t> </a:t>
            </a:r>
            <a:r>
              <a:rPr lang="en-US" dirty="0" err="1" smtClean="0"/>
              <a:t>Noorfalliha</a:t>
            </a:r>
            <a:r>
              <a:rPr lang="en-US" dirty="0" smtClean="0"/>
              <a:t> </a:t>
            </a:r>
            <a:r>
              <a:rPr lang="en-US" dirty="0" err="1" smtClean="0"/>
              <a:t>Putri</a:t>
            </a:r>
            <a:endParaRPr lang="en-US" dirty="0" smtClean="0"/>
          </a:p>
          <a:p>
            <a:r>
              <a:rPr lang="en-US" dirty="0" smtClean="0"/>
              <a:t>20260801025 – Eric </a:t>
            </a:r>
            <a:r>
              <a:rPr lang="en-US" dirty="0" err="1" smtClean="0"/>
              <a:t>Atma</a:t>
            </a:r>
            <a:r>
              <a:rPr lang="en-US" dirty="0" smtClean="0"/>
              <a:t> </a:t>
            </a:r>
            <a:r>
              <a:rPr lang="en-US" dirty="0" err="1" smtClean="0"/>
              <a:t>Wijaya</a:t>
            </a:r>
            <a:endParaRPr lang="en-US" dirty="0" smtClean="0"/>
          </a:p>
          <a:p>
            <a:r>
              <a:rPr lang="en-US" dirty="0" smtClean="0"/>
              <a:t>20260801159 – </a:t>
            </a:r>
            <a:r>
              <a:rPr lang="en-US" dirty="0" err="1" smtClean="0"/>
              <a:t>Reffy</a:t>
            </a:r>
            <a:r>
              <a:rPr lang="en-US" dirty="0" smtClean="0"/>
              <a:t> </a:t>
            </a:r>
            <a:r>
              <a:rPr lang="en-US" dirty="0" err="1" smtClean="0"/>
              <a:t>Yudhistira</a:t>
            </a:r>
            <a:endParaRPr lang="en-US" dirty="0" smtClean="0"/>
          </a:p>
          <a:p>
            <a:r>
              <a:rPr lang="en-US" smtClean="0"/>
              <a:t>20260801074 </a:t>
            </a:r>
            <a:r>
              <a:rPr lang="en-US" dirty="0" smtClean="0"/>
              <a:t>– </a:t>
            </a:r>
            <a:r>
              <a:rPr lang="en-US" dirty="0" err="1" smtClean="0"/>
              <a:t>Panji</a:t>
            </a:r>
            <a:r>
              <a:rPr lang="en-US" dirty="0" smtClean="0"/>
              <a:t> </a:t>
            </a:r>
            <a:r>
              <a:rPr lang="en-US" dirty="0" err="1" smtClean="0"/>
              <a:t>Gumilang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E5A50D-E71B-9E14-C34D-4CB8A622E0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3184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610F3-8AC1-8631-8FA4-A4909F0C7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3526B9-FE48-B245-93FF-1A6662EB7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Nilai </a:t>
            </a:r>
            <a:r>
              <a:rPr lang="en-US" dirty="0" err="1"/>
              <a:t>Tambah</a:t>
            </a:r>
            <a:r>
              <a:rPr lang="en-US" dirty="0"/>
              <a:t> Siang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F7E261-D74E-5E6A-7D6C-54A22A358F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4AED6-5451-39A3-08D3-BA3C993601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61468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UEU Color">
      <a:dk1>
        <a:srgbClr val="0E60AC"/>
      </a:dk1>
      <a:lt1>
        <a:sysClr val="window" lastClr="FFFFFF"/>
      </a:lt1>
      <a:dk2>
        <a:srgbClr val="0E60AC"/>
      </a:dk2>
      <a:lt2>
        <a:srgbClr val="FFFFFF"/>
      </a:lt2>
      <a:accent1>
        <a:srgbClr val="0B4E8B"/>
      </a:accent1>
      <a:accent2>
        <a:srgbClr val="EF7220"/>
      </a:accent2>
      <a:accent3>
        <a:srgbClr val="0F68B9"/>
      </a:accent3>
      <a:accent4>
        <a:srgbClr val="DA6210"/>
      </a:accent4>
      <a:accent5>
        <a:srgbClr val="D8D8D8"/>
      </a:accent5>
      <a:accent6>
        <a:srgbClr val="0B4E8B"/>
      </a:accent6>
      <a:hlink>
        <a:srgbClr val="DA6210"/>
      </a:hlink>
      <a:folHlink>
        <a:srgbClr val="EF7220"/>
      </a:folHlink>
    </a:clrScheme>
    <a:fontScheme name="Font UEU Basic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 PPT (Sudah Transform)" id="{4A1D9D93-713F-459F-BBFB-1DE982FF7424}" vid="{69288B8F-0A48-4C79-93C3-AC0192282F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 PPT (Sudah Transform)</Template>
  <TotalTime>619</TotalTime>
  <Words>887</Words>
  <Application>Microsoft Office PowerPoint</Application>
  <PresentationFormat>Widescreen</PresentationFormat>
  <Paragraphs>107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Tw Cen MT</vt:lpstr>
      <vt:lpstr>Office Theme</vt:lpstr>
      <vt:lpstr>Algoritma dan Pemrograman</vt:lpstr>
      <vt:lpstr>PowerPoint Presentation</vt:lpstr>
      <vt:lpstr>PowerPoint Presentation</vt:lpstr>
      <vt:lpstr>PowerPoint Presentation</vt:lpstr>
      <vt:lpstr>PowerPoint Presentation</vt:lpstr>
      <vt:lpstr>Referensi</vt:lpstr>
      <vt:lpstr>Penilaian</vt:lpstr>
      <vt:lpstr>WHAT IS Algorithm.?</vt:lpstr>
      <vt:lpstr>Apa itu Algoritma?</vt:lpstr>
      <vt:lpstr>Ciri-Ciri Algoritma</vt:lpstr>
      <vt:lpstr>Karakteristik Algoritma</vt:lpstr>
      <vt:lpstr>Fungsi dan Penggunaan</vt:lpstr>
      <vt:lpstr>Perintah Dasar Algoritma</vt:lpstr>
      <vt:lpstr>Algoritma dalam Pemrograman</vt:lpstr>
      <vt:lpstr>Contoh algoritma dalam kehidupan sehari-hari</vt:lpstr>
      <vt:lpstr>Gerbang Logika</vt:lpstr>
      <vt:lpstr>Gerbang Logika</vt:lpstr>
      <vt:lpstr>Tabel Kebenaran Gerbang Logika</vt:lpstr>
      <vt:lpstr>Keterangan</vt:lpstr>
      <vt:lpstr>Keterangan(2)</vt:lpstr>
      <vt:lpstr>Penerapan Gerbang Logika</vt:lpstr>
      <vt:lpstr>Any Question</vt:lpstr>
      <vt:lpstr>Terima Kasih</vt:lpstr>
      <vt:lpstr>Nilai Tambah</vt:lpstr>
      <vt:lpstr>Nilai Tambah Siang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KECERDASAN ARTIFISIAL</dc:title>
  <dc:creator>Jessica Christianna</dc:creator>
  <cp:lastModifiedBy>A405</cp:lastModifiedBy>
  <cp:revision>61</cp:revision>
  <dcterms:created xsi:type="dcterms:W3CDTF">2023-08-22T04:41:51Z</dcterms:created>
  <dcterms:modified xsi:type="dcterms:W3CDTF">2026-09-17T01:25:09Z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2023-08-22T04:50:37Z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cdf0f113-eac9-4316-8cb9-e23830181d37</vt:lpwstr>
  </property>
  <property fmtid="{D5CDD505-2E9C-101B-9397-08002B2CF9AE}" pid="7" name="MSIP_Label_defa4170-0d19-0005-0004-bc88714345d2_ActionId">
    <vt:lpwstr>b6fc0939-d182-4b3d-88d3-9d196aab1410</vt:lpwstr>
  </property>
  <property fmtid="{D5CDD505-2E9C-101B-9397-08002B2CF9AE}" pid="8" name="MSIP_Label_defa4170-0d19-0005-0004-bc88714345d2_ContentBits">
    <vt:lpwstr>0</vt:lpwstr>
  </property>
</Properties>
</file>